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62" r:id="rId5"/>
    <p:sldId id="259" r:id="rId6"/>
    <p:sldId id="260" r:id="rId7"/>
    <p:sldId id="261" r:id="rId8"/>
  </p:sldIdLst>
  <p:sldSz cx="18288000" cy="10287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532" autoAdjust="0"/>
    <p:restoredTop sz="94660"/>
  </p:normalViewPr>
  <p:slideViewPr>
    <p:cSldViewPr snapToGrid="0">
      <p:cViewPr varScale="1">
        <p:scale>
          <a:sx n="56" d="100"/>
          <a:sy n="56" d="100"/>
        </p:scale>
        <p:origin x="706"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1" name="Shape 91"/>
          <p:cNvSpPr>
            <a:spLocks noGrp="1" noRot="1" noChangeAspect="1"/>
          </p:cNvSpPr>
          <p:nvPr>
            <p:ph type="sldImg"/>
          </p:nvPr>
        </p:nvSpPr>
        <p:spPr>
          <a:xfrm>
            <a:off x="1143000" y="685800"/>
            <a:ext cx="4572000" cy="3429000"/>
          </a:xfrm>
          <a:prstGeom prst="rect">
            <a:avLst/>
          </a:prstGeom>
        </p:spPr>
        <p:txBody>
          <a:bodyPr/>
          <a:lstStyle/>
          <a:p>
            <a:endParaRPr/>
          </a:p>
        </p:txBody>
      </p:sp>
      <p:sp>
        <p:nvSpPr>
          <p:cNvPr id="92" name="Shape 9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Shape 116"/>
          <p:cNvSpPr>
            <a:spLocks noGrp="1" noRot="1" noChangeAspect="1"/>
          </p:cNvSpPr>
          <p:nvPr>
            <p:ph type="sldImg"/>
          </p:nvPr>
        </p:nvSpPr>
        <p:spPr>
          <a:xfrm>
            <a:off x="381000" y="685800"/>
            <a:ext cx="6096000" cy="3429000"/>
          </a:xfrm>
          <a:prstGeom prst="rect">
            <a:avLst/>
          </a:prstGeom>
        </p:spPr>
        <p:txBody>
          <a:bodyPr/>
          <a:lstStyle/>
          <a:p>
            <a:endParaRPr/>
          </a:p>
        </p:txBody>
      </p:sp>
      <p:sp>
        <p:nvSpPr>
          <p:cNvPr id="117" name="Shape 117"/>
          <p:cNvSpPr>
            <a:spLocks noGrp="1"/>
          </p:cNvSpPr>
          <p:nvPr>
            <p:ph type="body" sz="quarter" idx="1"/>
          </p:nvPr>
        </p:nvSpPr>
        <p:spPr>
          <a:prstGeom prst="rect">
            <a:avLst/>
          </a:prstGeom>
        </p:spPr>
        <p:txBody>
          <a:bodyPr/>
          <a:lstStyle/>
          <a:p>
            <a:r>
              <a:t>2</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Shape 132"/>
          <p:cNvSpPr>
            <a:spLocks noGrp="1" noRot="1" noChangeAspect="1"/>
          </p:cNvSpPr>
          <p:nvPr>
            <p:ph type="sldImg"/>
          </p:nvPr>
        </p:nvSpPr>
        <p:spPr>
          <a:xfrm>
            <a:off x="381000" y="685800"/>
            <a:ext cx="6096000" cy="3429000"/>
          </a:xfrm>
          <a:prstGeom prst="rect">
            <a:avLst/>
          </a:prstGeom>
        </p:spPr>
        <p:txBody>
          <a:bodyPr/>
          <a:lstStyle/>
          <a:p>
            <a:endParaRPr/>
          </a:p>
        </p:txBody>
      </p:sp>
      <p:sp>
        <p:nvSpPr>
          <p:cNvPr id="133" name="Shape 133"/>
          <p:cNvSpPr>
            <a:spLocks noGrp="1"/>
          </p:cNvSpPr>
          <p:nvPr>
            <p:ph type="body" sz="quarter" idx="1"/>
          </p:nvPr>
        </p:nvSpPr>
        <p:spPr>
          <a:prstGeom prst="rect">
            <a:avLst/>
          </a:prstGeom>
        </p:spPr>
        <p:txBody>
          <a:bodyPr/>
          <a:lstStyle/>
          <a:p>
            <a:r>
              <a:t>3</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Shape 148"/>
          <p:cNvSpPr>
            <a:spLocks noGrp="1" noRot="1" noChangeAspect="1"/>
          </p:cNvSpPr>
          <p:nvPr>
            <p:ph type="sldImg"/>
          </p:nvPr>
        </p:nvSpPr>
        <p:spPr>
          <a:xfrm>
            <a:off x="381000" y="685800"/>
            <a:ext cx="6096000" cy="3429000"/>
          </a:xfrm>
          <a:prstGeom prst="rect">
            <a:avLst/>
          </a:prstGeom>
        </p:spPr>
        <p:txBody>
          <a:bodyPr/>
          <a:lstStyle/>
          <a:p>
            <a:endParaRPr/>
          </a:p>
        </p:txBody>
      </p:sp>
      <p:sp>
        <p:nvSpPr>
          <p:cNvPr id="149" name="Shape 149"/>
          <p:cNvSpPr>
            <a:spLocks noGrp="1"/>
          </p:cNvSpPr>
          <p:nvPr>
            <p:ph type="body" sz="quarter" idx="1"/>
          </p:nvPr>
        </p:nvSpPr>
        <p:spPr>
          <a:prstGeom prst="rect">
            <a:avLst/>
          </a:prstGeom>
        </p:spPr>
        <p:txBody>
          <a:bodyPr/>
          <a:lstStyle/>
          <a:p>
            <a:r>
              <a:t>4</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Shape 164"/>
          <p:cNvSpPr>
            <a:spLocks noGrp="1" noRot="1" noChangeAspect="1"/>
          </p:cNvSpPr>
          <p:nvPr>
            <p:ph type="sldImg"/>
          </p:nvPr>
        </p:nvSpPr>
        <p:spPr>
          <a:xfrm>
            <a:off x="381000" y="685800"/>
            <a:ext cx="6096000" cy="3429000"/>
          </a:xfrm>
          <a:prstGeom prst="rect">
            <a:avLst/>
          </a:prstGeom>
        </p:spPr>
        <p:txBody>
          <a:bodyPr/>
          <a:lstStyle/>
          <a:p>
            <a:endParaRPr/>
          </a:p>
        </p:txBody>
      </p:sp>
      <p:sp>
        <p:nvSpPr>
          <p:cNvPr id="165" name="Shape 165"/>
          <p:cNvSpPr>
            <a:spLocks noGrp="1"/>
          </p:cNvSpPr>
          <p:nvPr>
            <p:ph type="body" sz="quarter" idx="1"/>
          </p:nvPr>
        </p:nvSpPr>
        <p:spPr>
          <a:prstGeom prst="rect">
            <a:avLst/>
          </a:prstGeom>
        </p:spPr>
        <p:txBody>
          <a:bodyPr/>
          <a:lstStyle/>
          <a:p>
            <a:r>
              <a:t>5</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Shape 180"/>
          <p:cNvSpPr>
            <a:spLocks noGrp="1" noRot="1" noChangeAspect="1"/>
          </p:cNvSpPr>
          <p:nvPr>
            <p:ph type="sldImg"/>
          </p:nvPr>
        </p:nvSpPr>
        <p:spPr>
          <a:xfrm>
            <a:off x="381000" y="685800"/>
            <a:ext cx="6096000" cy="3429000"/>
          </a:xfrm>
          <a:prstGeom prst="rect">
            <a:avLst/>
          </a:prstGeom>
        </p:spPr>
        <p:txBody>
          <a:bodyPr/>
          <a:lstStyle/>
          <a:p>
            <a:endParaRPr/>
          </a:p>
        </p:txBody>
      </p:sp>
      <p:sp>
        <p:nvSpPr>
          <p:cNvPr id="181" name="Shape 181"/>
          <p:cNvSpPr>
            <a:spLocks noGrp="1"/>
          </p:cNvSpPr>
          <p:nvPr>
            <p:ph type="body" sz="quarter" idx="1"/>
          </p:nvPr>
        </p:nvSpPr>
        <p:spPr>
          <a:prstGeom prst="rect">
            <a:avLst/>
          </a:prstGeom>
        </p:spPr>
        <p:txBody>
          <a:bodyPr/>
          <a:lstStyle/>
          <a:p>
            <a:r>
              <a:t>6</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685800" y="2130425"/>
            <a:ext cx="7772400" cy="1470025"/>
          </a:xfrm>
          <a:prstGeom prst="rect">
            <a:avLst/>
          </a:prstGeom>
        </p:spPr>
        <p:txBody>
          <a:bodyPr/>
          <a:lstStyle/>
          <a:p>
            <a:r>
              <a:t>Title Text</a:t>
            </a:r>
          </a:p>
        </p:txBody>
      </p:sp>
      <p:sp>
        <p:nvSpPr>
          <p:cNvPr id="12" name="Body Level One…"/>
          <p:cNvSpPr txBox="1">
            <a:spLocks noGrp="1"/>
          </p:cNvSpPr>
          <p:nvPr>
            <p:ph type="body" sz="quarter" idx="1"/>
          </p:nvPr>
        </p:nvSpPr>
        <p:spPr>
          <a:xfrm>
            <a:off x="1371600" y="3886200"/>
            <a:ext cx="6400800" cy="1752600"/>
          </a:xfrm>
          <a:prstGeom prst="rect">
            <a:avLst/>
          </a:prstGeom>
        </p:spPr>
        <p:txBody>
          <a:bodyPr/>
          <a:lstStyle>
            <a:lvl1pPr marL="0" indent="0" algn="ctr">
              <a:buSzTx/>
              <a:buFontTx/>
              <a:buNone/>
              <a:defRPr>
                <a:solidFill>
                  <a:srgbClr val="888888"/>
                </a:solidFill>
              </a:defRPr>
            </a:lvl1pPr>
            <a:lvl2pPr marL="0" indent="457200" algn="ctr">
              <a:buSzTx/>
              <a:buFontTx/>
              <a:buNone/>
              <a:defRPr>
                <a:solidFill>
                  <a:srgbClr val="888888"/>
                </a:solidFill>
              </a:defRPr>
            </a:lvl2pPr>
            <a:lvl3pPr marL="0" indent="914400" algn="ctr">
              <a:buSzTx/>
              <a:buFontTx/>
              <a:buNone/>
              <a:defRPr>
                <a:solidFill>
                  <a:srgbClr val="888888"/>
                </a:solidFill>
              </a:defRPr>
            </a:lvl3pPr>
            <a:lvl4pPr marL="0" indent="1371600" algn="ctr">
              <a:buSzTx/>
              <a:buFontTx/>
              <a:buNone/>
              <a:defRPr>
                <a:solidFill>
                  <a:srgbClr val="888888"/>
                </a:solidFill>
              </a:defRPr>
            </a:lvl4pPr>
            <a:lvl5pPr marL="0" indent="1828800" algn="ctr">
              <a:buSzTx/>
              <a:buFontTx/>
              <a:buNone/>
              <a:defRPr>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0"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21" name="Body Level One…"/>
          <p:cNvSpPr txBox="1">
            <a:spLocks noGrp="1"/>
          </p:cNvSpPr>
          <p:nvPr>
            <p:ph type="body" sz="quarter" idx="1"/>
          </p:nvPr>
        </p:nvSpPr>
        <p:spPr>
          <a:xfrm>
            <a:off x="457200" y="1600200"/>
            <a:ext cx="8229600" cy="4525963"/>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Section Header">
    <p:spTree>
      <p:nvGrpSpPr>
        <p:cNvPr id="1" name=""/>
        <p:cNvGrpSpPr/>
        <p:nvPr/>
      </p:nvGrpSpPr>
      <p:grpSpPr>
        <a:xfrm>
          <a:off x="0" y="0"/>
          <a:ext cx="0" cy="0"/>
          <a:chOff x="0" y="0"/>
          <a:chExt cx="0" cy="0"/>
        </a:xfrm>
      </p:grpSpPr>
      <p:sp>
        <p:nvSpPr>
          <p:cNvPr id="29" name="Title Text"/>
          <p:cNvSpPr txBox="1">
            <a:spLocks noGrp="1"/>
          </p:cNvSpPr>
          <p:nvPr>
            <p:ph type="title"/>
          </p:nvPr>
        </p:nvSpPr>
        <p:spPr>
          <a:xfrm>
            <a:off x="722312" y="4406900"/>
            <a:ext cx="7772401" cy="1362075"/>
          </a:xfrm>
          <a:prstGeom prst="rect">
            <a:avLst/>
          </a:prstGeom>
        </p:spPr>
        <p:txBody>
          <a:bodyPr anchor="t"/>
          <a:lstStyle>
            <a:lvl1pPr algn="l">
              <a:defRPr sz="4000" b="1" cap="all"/>
            </a:lvl1pPr>
          </a:lstStyle>
          <a:p>
            <a:r>
              <a:t>Title Text</a:t>
            </a:r>
          </a:p>
        </p:txBody>
      </p:sp>
      <p:sp>
        <p:nvSpPr>
          <p:cNvPr id="30" name="Body Level One…"/>
          <p:cNvSpPr txBox="1">
            <a:spLocks noGrp="1"/>
          </p:cNvSpPr>
          <p:nvPr>
            <p:ph type="body" sz="quarter" idx="1"/>
          </p:nvPr>
        </p:nvSpPr>
        <p:spPr>
          <a:xfrm>
            <a:off x="722312" y="2906713"/>
            <a:ext cx="7772401" cy="1500188"/>
          </a:xfrm>
          <a:prstGeom prst="rect">
            <a:avLst/>
          </a:prstGeom>
        </p:spPr>
        <p:txBody>
          <a:bodyPr anchor="b"/>
          <a:lstStyle>
            <a:lvl1pPr marL="0" indent="0">
              <a:spcBef>
                <a:spcPts val="400"/>
              </a:spcBef>
              <a:buSzTx/>
              <a:buFontTx/>
              <a:buNone/>
              <a:defRPr sz="2000">
                <a:solidFill>
                  <a:srgbClr val="888888"/>
                </a:solidFill>
              </a:defRPr>
            </a:lvl1pPr>
            <a:lvl2pPr marL="0" indent="457200">
              <a:spcBef>
                <a:spcPts val="400"/>
              </a:spcBef>
              <a:buSzTx/>
              <a:buFontTx/>
              <a:buNone/>
              <a:defRPr sz="2000">
                <a:solidFill>
                  <a:srgbClr val="888888"/>
                </a:solidFill>
              </a:defRPr>
            </a:lvl2pPr>
            <a:lvl3pPr marL="0" indent="914400">
              <a:spcBef>
                <a:spcPts val="400"/>
              </a:spcBef>
              <a:buSzTx/>
              <a:buFontTx/>
              <a:buNone/>
              <a:defRPr sz="2000">
                <a:solidFill>
                  <a:srgbClr val="888888"/>
                </a:solidFill>
              </a:defRPr>
            </a:lvl3pPr>
            <a:lvl4pPr marL="0" indent="1371600">
              <a:spcBef>
                <a:spcPts val="400"/>
              </a:spcBef>
              <a:buSzTx/>
              <a:buFontTx/>
              <a:buNone/>
              <a:defRPr sz="2000">
                <a:solidFill>
                  <a:srgbClr val="888888"/>
                </a:solidFill>
              </a:defRPr>
            </a:lvl4pPr>
            <a:lvl5pPr marL="0" indent="1828800">
              <a:spcBef>
                <a:spcPts val="400"/>
              </a:spcBef>
              <a:buSzTx/>
              <a:buFontTx/>
              <a:buNone/>
              <a:defRPr sz="20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38"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39" name="Body Level One…"/>
          <p:cNvSpPr txBox="1">
            <a:spLocks noGrp="1"/>
          </p:cNvSpPr>
          <p:nvPr>
            <p:ph type="body" sz="quarter" idx="1"/>
          </p:nvPr>
        </p:nvSpPr>
        <p:spPr>
          <a:xfrm>
            <a:off x="457200" y="1600200"/>
            <a:ext cx="4038600" cy="4525963"/>
          </a:xfrm>
          <a:prstGeom prst="rect">
            <a:avLst/>
          </a:prstGeom>
        </p:spPr>
        <p:txBody>
          <a:bodyPr/>
          <a:lstStyle>
            <a:lvl1pPr>
              <a:spcBef>
                <a:spcPts val="600"/>
              </a:spcBef>
              <a:defRPr sz="2800"/>
            </a:lvl1pPr>
            <a:lvl2pPr marL="790575" indent="-333375">
              <a:spcBef>
                <a:spcPts val="600"/>
              </a:spcBef>
              <a:defRPr sz="2800"/>
            </a:lvl2pPr>
            <a:lvl3pPr marL="1234439" indent="-320039">
              <a:spcBef>
                <a:spcPts val="600"/>
              </a:spcBef>
              <a:defRPr sz="2800"/>
            </a:lvl3pPr>
            <a:lvl4pPr marL="1727200" indent="-355600">
              <a:spcBef>
                <a:spcPts val="600"/>
              </a:spcBef>
              <a:defRPr sz="2800"/>
            </a:lvl4pPr>
            <a:lvl5pPr marL="2184400" indent="-355600">
              <a:spcBef>
                <a:spcPts val="600"/>
              </a:spcBef>
              <a:defRPr sz="2800"/>
            </a:lvl5pPr>
          </a:lstStyle>
          <a:p>
            <a:r>
              <a:t>Body Level One</a:t>
            </a:r>
          </a:p>
          <a:p>
            <a:pPr lvl="1"/>
            <a:r>
              <a:t>Body Level Two</a:t>
            </a:r>
          </a:p>
          <a:p>
            <a:pPr lvl="2"/>
            <a:r>
              <a:t>Body Level Three</a:t>
            </a:r>
          </a:p>
          <a:p>
            <a:pPr lvl="3"/>
            <a:r>
              <a:t>Body Level Four</a:t>
            </a:r>
          </a:p>
          <a:p>
            <a:pPr lvl="4"/>
            <a:r>
              <a:t>Body Level Five</a:t>
            </a:r>
          </a:p>
        </p:txBody>
      </p:sp>
      <p:sp>
        <p:nvSpPr>
          <p:cNvPr id="4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47"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48" name="Body Level One…"/>
          <p:cNvSpPr txBox="1">
            <a:spLocks noGrp="1"/>
          </p:cNvSpPr>
          <p:nvPr>
            <p:ph type="body" sz="quarter" idx="1"/>
          </p:nvPr>
        </p:nvSpPr>
        <p:spPr>
          <a:xfrm>
            <a:off x="457200" y="1535112"/>
            <a:ext cx="4040188" cy="639763"/>
          </a:xfrm>
          <a:prstGeom prst="rect">
            <a:avLst/>
          </a:prstGeom>
        </p:spPr>
        <p:txBody>
          <a:bodyPr anchor="b"/>
          <a:lstStyle>
            <a:lvl1pPr marL="0" indent="0">
              <a:spcBef>
                <a:spcPts val="500"/>
              </a:spcBef>
              <a:buSzTx/>
              <a:buFontTx/>
              <a:buNone/>
              <a:defRPr sz="2400" b="1"/>
            </a:lvl1pPr>
            <a:lvl2pPr marL="0" indent="457200">
              <a:spcBef>
                <a:spcPts val="500"/>
              </a:spcBef>
              <a:buSzTx/>
              <a:buFontTx/>
              <a:buNone/>
              <a:defRPr sz="2400" b="1"/>
            </a:lvl2pPr>
            <a:lvl3pPr marL="0" indent="914400">
              <a:spcBef>
                <a:spcPts val="500"/>
              </a:spcBef>
              <a:buSzTx/>
              <a:buFontTx/>
              <a:buNone/>
              <a:defRPr sz="2400" b="1"/>
            </a:lvl3pPr>
            <a:lvl4pPr marL="0" indent="1371600">
              <a:spcBef>
                <a:spcPts val="500"/>
              </a:spcBef>
              <a:buSzTx/>
              <a:buFontTx/>
              <a:buNone/>
              <a:defRPr sz="2400" b="1"/>
            </a:lvl4pPr>
            <a:lvl5pPr marL="0" indent="1828800">
              <a:spcBef>
                <a:spcPts val="500"/>
              </a:spcBef>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49" name="Text Placeholder 4"/>
          <p:cNvSpPr>
            <a:spLocks noGrp="1"/>
          </p:cNvSpPr>
          <p:nvPr>
            <p:ph type="body" sz="quarter" idx="21"/>
          </p:nvPr>
        </p:nvSpPr>
        <p:spPr>
          <a:xfrm>
            <a:off x="4645025" y="1535112"/>
            <a:ext cx="4041775" cy="639763"/>
          </a:xfrm>
          <a:prstGeom prst="rect">
            <a:avLst/>
          </a:prstGeom>
        </p:spPr>
        <p:txBody>
          <a:bodyPr anchor="b"/>
          <a:lstStyle/>
          <a:p>
            <a:pPr marL="0" indent="0">
              <a:spcBef>
                <a:spcPts val="500"/>
              </a:spcBef>
              <a:buSzTx/>
              <a:buFontTx/>
              <a:buNone/>
              <a:defRPr sz="2400" b="1"/>
            </a:pPr>
            <a:endParaRPr/>
          </a:p>
        </p:txBody>
      </p:sp>
      <p:sp>
        <p:nvSpPr>
          <p:cNvPr id="5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57"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6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72" name="Title Text"/>
          <p:cNvSpPr txBox="1">
            <a:spLocks noGrp="1"/>
          </p:cNvSpPr>
          <p:nvPr>
            <p:ph type="title"/>
          </p:nvPr>
        </p:nvSpPr>
        <p:spPr>
          <a:xfrm>
            <a:off x="457200" y="273050"/>
            <a:ext cx="3008314" cy="1162050"/>
          </a:xfrm>
          <a:prstGeom prst="rect">
            <a:avLst/>
          </a:prstGeom>
        </p:spPr>
        <p:txBody>
          <a:bodyPr anchor="b"/>
          <a:lstStyle>
            <a:lvl1pPr algn="l">
              <a:defRPr sz="2000" b="1"/>
            </a:lvl1pPr>
          </a:lstStyle>
          <a:p>
            <a:r>
              <a:t>Title Text</a:t>
            </a:r>
          </a:p>
        </p:txBody>
      </p:sp>
      <p:sp>
        <p:nvSpPr>
          <p:cNvPr id="73" name="Body Level One…"/>
          <p:cNvSpPr txBox="1">
            <a:spLocks noGrp="1"/>
          </p:cNvSpPr>
          <p:nvPr>
            <p:ph type="body" sz="quarter" idx="1"/>
          </p:nvPr>
        </p:nvSpPr>
        <p:spPr>
          <a:xfrm>
            <a:off x="3575050" y="273050"/>
            <a:ext cx="5111750" cy="5853113"/>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4" name="Text Placeholder 3"/>
          <p:cNvSpPr>
            <a:spLocks noGrp="1"/>
          </p:cNvSpPr>
          <p:nvPr>
            <p:ph type="body" sz="quarter" idx="21"/>
          </p:nvPr>
        </p:nvSpPr>
        <p:spPr>
          <a:xfrm>
            <a:off x="457199" y="1435100"/>
            <a:ext cx="3008315" cy="4691063"/>
          </a:xfrm>
          <a:prstGeom prst="rect">
            <a:avLst/>
          </a:prstGeom>
        </p:spPr>
        <p:txBody>
          <a:bodyPr/>
          <a:lstStyle/>
          <a:p>
            <a:pPr marL="0" indent="0">
              <a:spcBef>
                <a:spcPts val="300"/>
              </a:spcBef>
              <a:buSzTx/>
              <a:buFontTx/>
              <a:buNone/>
              <a:defRPr sz="1400"/>
            </a:pPr>
            <a:endParaRPr/>
          </a:p>
        </p:txBody>
      </p:sp>
      <p:sp>
        <p:nvSpPr>
          <p:cNvPr id="7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sp>
        <p:nvSpPr>
          <p:cNvPr id="82" name="Title Text"/>
          <p:cNvSpPr txBox="1">
            <a:spLocks noGrp="1"/>
          </p:cNvSpPr>
          <p:nvPr>
            <p:ph type="title"/>
          </p:nvPr>
        </p:nvSpPr>
        <p:spPr>
          <a:xfrm>
            <a:off x="1792288" y="4800600"/>
            <a:ext cx="5486401" cy="566738"/>
          </a:xfrm>
          <a:prstGeom prst="rect">
            <a:avLst/>
          </a:prstGeom>
        </p:spPr>
        <p:txBody>
          <a:bodyPr anchor="b"/>
          <a:lstStyle>
            <a:lvl1pPr algn="l">
              <a:defRPr sz="2000" b="1"/>
            </a:lvl1pPr>
          </a:lstStyle>
          <a:p>
            <a:r>
              <a:t>Title Text</a:t>
            </a:r>
          </a:p>
        </p:txBody>
      </p:sp>
      <p:sp>
        <p:nvSpPr>
          <p:cNvPr id="83" name="Picture Placeholder 2"/>
          <p:cNvSpPr>
            <a:spLocks noGrp="1"/>
          </p:cNvSpPr>
          <p:nvPr>
            <p:ph type="pic" sz="quarter" idx="21"/>
          </p:nvPr>
        </p:nvSpPr>
        <p:spPr>
          <a:xfrm>
            <a:off x="1792288" y="612775"/>
            <a:ext cx="5486401" cy="4114800"/>
          </a:xfrm>
          <a:prstGeom prst="rect">
            <a:avLst/>
          </a:prstGeom>
        </p:spPr>
        <p:txBody>
          <a:bodyPr lIns="91439" rIns="91439">
            <a:noAutofit/>
          </a:bodyPr>
          <a:lstStyle/>
          <a:p>
            <a:endParaRPr/>
          </a:p>
        </p:txBody>
      </p:sp>
      <p:sp>
        <p:nvSpPr>
          <p:cNvPr id="84" name="Body Level One…"/>
          <p:cNvSpPr txBox="1">
            <a:spLocks noGrp="1"/>
          </p:cNvSpPr>
          <p:nvPr>
            <p:ph type="body" sz="quarter" idx="1"/>
          </p:nvPr>
        </p:nvSpPr>
        <p:spPr>
          <a:xfrm>
            <a:off x="1792288" y="5367337"/>
            <a:ext cx="5486401" cy="804863"/>
          </a:xfrm>
          <a:prstGeom prst="rect">
            <a:avLst/>
          </a:prstGeom>
        </p:spPr>
        <p:txBody>
          <a:bodyPr/>
          <a:lstStyle>
            <a:lvl1pPr marL="0" indent="0">
              <a:spcBef>
                <a:spcPts val="300"/>
              </a:spcBef>
              <a:buSzTx/>
              <a:buFontTx/>
              <a:buNone/>
              <a:defRPr sz="1400"/>
            </a:lvl1pPr>
            <a:lvl2pPr marL="0" indent="457200">
              <a:spcBef>
                <a:spcPts val="300"/>
              </a:spcBef>
              <a:buSzTx/>
              <a:buFontTx/>
              <a:buNone/>
              <a:defRPr sz="1400"/>
            </a:lvl2pPr>
            <a:lvl3pPr marL="0" indent="914400">
              <a:spcBef>
                <a:spcPts val="300"/>
              </a:spcBef>
              <a:buSzTx/>
              <a:buFontTx/>
              <a:buNone/>
              <a:defRPr sz="1400"/>
            </a:lvl3pPr>
            <a:lvl4pPr marL="0" indent="1371600">
              <a:spcBef>
                <a:spcPts val="300"/>
              </a:spcBef>
              <a:buSzTx/>
              <a:buFontTx/>
              <a:buNone/>
              <a:defRPr sz="1400"/>
            </a:lvl4pPr>
            <a:lvl5pPr marL="0" indent="1828800">
              <a:spcBef>
                <a:spcPts val="300"/>
              </a:spcBef>
              <a:buSzTx/>
              <a:buFontTx/>
              <a:buNone/>
              <a:defRPr sz="1400"/>
            </a:lvl5pPr>
          </a:lstStyle>
          <a:p>
            <a:r>
              <a:t>Body Level One</a:t>
            </a:r>
          </a:p>
          <a:p>
            <a:pPr lvl="1"/>
            <a:r>
              <a:t>Body Level Two</a:t>
            </a:r>
          </a:p>
          <a:p>
            <a:pPr lvl="2"/>
            <a:r>
              <a:t>Body Level Three</a:t>
            </a:r>
          </a:p>
          <a:p>
            <a:pPr lvl="3"/>
            <a:r>
              <a:t>Body Level Four</a:t>
            </a:r>
          </a:p>
          <a:p>
            <a:pPr lvl="4"/>
            <a:r>
              <a:t>Body Level Five</a:t>
            </a:r>
          </a:p>
        </p:txBody>
      </p:sp>
      <p:sp>
        <p:nvSpPr>
          <p:cNvPr id="8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914400" y="138112"/>
            <a:ext cx="16459200" cy="22621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p>
            <a:r>
              <a:t>Title Text</a:t>
            </a:r>
          </a:p>
        </p:txBody>
      </p:sp>
      <p:sp>
        <p:nvSpPr>
          <p:cNvPr id="3" name="Body Level One…"/>
          <p:cNvSpPr txBox="1">
            <a:spLocks noGrp="1"/>
          </p:cNvSpPr>
          <p:nvPr>
            <p:ph type="body" idx="1"/>
          </p:nvPr>
        </p:nvSpPr>
        <p:spPr>
          <a:xfrm>
            <a:off x="914400" y="2400300"/>
            <a:ext cx="16459200" cy="78867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8428176" y="6414760"/>
            <a:ext cx="258624" cy="248305"/>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med"/>
  <p:txStyles>
    <p:titleStyle>
      <a:lvl1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1pPr>
      <a:lvl2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2pPr>
      <a:lvl3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3pPr>
      <a:lvl4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4pPr>
      <a:lvl5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5pPr>
      <a:lvl6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6pPr>
      <a:lvl7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7pPr>
      <a:lvl8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8pPr>
      <a:lvl9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Group 2"/>
          <p:cNvSpPr/>
          <p:nvPr/>
        </p:nvSpPr>
        <p:spPr>
          <a:xfrm>
            <a:off x="2396910" y="907380"/>
            <a:ext cx="12149225"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5000"/>
              </a:lnSpc>
              <a:defRPr sz="4200" b="1">
                <a:solidFill>
                  <a:srgbClr val="0453C8"/>
                </a:solidFill>
                <a:latin typeface="Times New Roman"/>
                <a:ea typeface="Times New Roman"/>
                <a:cs typeface="Times New Roman"/>
                <a:sym typeface="Times New Roman"/>
              </a:defRPr>
            </a:lvl1pPr>
          </a:lstStyle>
          <a:p>
            <a:r>
              <a:rPr dirty="0"/>
              <a:t>CODEVEDA - HACKATHON 2026</a:t>
            </a:r>
          </a:p>
        </p:txBody>
      </p:sp>
      <p:sp>
        <p:nvSpPr>
          <p:cNvPr id="95" name="Freeform 6"/>
          <p:cNvSpPr/>
          <p:nvPr/>
        </p:nvSpPr>
        <p:spPr>
          <a:xfrm>
            <a:off x="13482828" y="0"/>
            <a:ext cx="4805173" cy="883444"/>
          </a:xfrm>
          <a:prstGeom prst="rect">
            <a:avLst/>
          </a:prstGeom>
          <a:blipFill>
            <a:blip r:embed="rId2"/>
            <a:stretch>
              <a:fillRect/>
            </a:stretch>
          </a:blipFill>
          <a:ln w="12700">
            <a:miter lim="400000"/>
          </a:ln>
        </p:spPr>
        <p:txBody>
          <a:bodyPr lIns="45719" rIns="45719"/>
          <a:lstStyle/>
          <a:p>
            <a:endParaRPr/>
          </a:p>
        </p:txBody>
      </p:sp>
      <p:grpSp>
        <p:nvGrpSpPr>
          <p:cNvPr id="98" name="Group 7"/>
          <p:cNvGrpSpPr/>
          <p:nvPr/>
        </p:nvGrpSpPr>
        <p:grpSpPr>
          <a:xfrm>
            <a:off x="0" y="9532142"/>
            <a:ext cx="18288001" cy="754858"/>
            <a:chOff x="0" y="0"/>
            <a:chExt cx="18288000" cy="754857"/>
          </a:xfrm>
        </p:grpSpPr>
        <p:sp>
          <p:nvSpPr>
            <p:cNvPr id="96" name="Freeform 8"/>
            <p:cNvSpPr/>
            <p:nvPr/>
          </p:nvSpPr>
          <p:spPr>
            <a:xfrm>
              <a:off x="0" y="0"/>
              <a:ext cx="18288001" cy="754858"/>
            </a:xfrm>
            <a:prstGeom prst="rect">
              <a:avLst/>
            </a:prstGeom>
            <a:solidFill>
              <a:srgbClr val="0070C0"/>
            </a:solidFill>
            <a:ln w="12700" cap="flat">
              <a:noFill/>
              <a:miter lim="400000"/>
            </a:ln>
            <a:effectLst/>
          </p:spPr>
          <p:txBody>
            <a:bodyPr wrap="square" lIns="45719" tIns="45719" rIns="45719" bIns="45719" numCol="1" anchor="t">
              <a:noAutofit/>
            </a:bodyPr>
            <a:lstStyle/>
            <a:p>
              <a:endParaRPr/>
            </a:p>
          </p:txBody>
        </p:sp>
        <p:sp>
          <p:nvSpPr>
            <p:cNvPr id="97" name="TextBox 9"/>
            <p:cNvSpPr/>
            <p:nvPr/>
          </p:nvSpPr>
          <p:spPr>
            <a:xfrm>
              <a:off x="0" y="377428"/>
              <a:ext cx="18288001"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just">
                <a:lnSpc>
                  <a:spcPts val="3200"/>
                </a:lnSpc>
                <a:defRPr sz="2700">
                  <a:solidFill>
                    <a:srgbClr val="FFFFFF"/>
                  </a:solidFill>
                  <a:latin typeface="Calibri (MS)"/>
                  <a:ea typeface="Calibri (MS)"/>
                  <a:cs typeface="Calibri (MS)"/>
                  <a:sym typeface="Calibri (MS)"/>
                </a:defRPr>
              </a:lvl1pPr>
            </a:lstStyle>
            <a:p>
              <a:r>
                <a:t>                                 Alliance School of Advanced Computing  |  Microsoft Azure Developer Community               1</a:t>
              </a:r>
            </a:p>
          </p:txBody>
        </p:sp>
      </p:grpSp>
      <p:sp>
        <p:nvSpPr>
          <p:cNvPr id="99" name="Freeform 10"/>
          <p:cNvSpPr/>
          <p:nvPr/>
        </p:nvSpPr>
        <p:spPr>
          <a:xfrm>
            <a:off x="0" y="-1"/>
            <a:ext cx="3016469" cy="1161342"/>
          </a:xfrm>
          <a:prstGeom prst="rect">
            <a:avLst/>
          </a:prstGeom>
          <a:blipFill>
            <a:blip r:embed="rId3"/>
            <a:stretch>
              <a:fillRect/>
            </a:stretch>
          </a:blipFill>
          <a:ln w="12700">
            <a:miter lim="400000"/>
          </a:ln>
        </p:spPr>
        <p:txBody>
          <a:bodyPr lIns="45719" rIns="45719"/>
          <a:lstStyle/>
          <a:p>
            <a:endParaRPr/>
          </a:p>
        </p:txBody>
      </p:sp>
      <p:sp>
        <p:nvSpPr>
          <p:cNvPr id="100" name="Freeform 11"/>
          <p:cNvSpPr/>
          <p:nvPr/>
        </p:nvSpPr>
        <p:spPr>
          <a:xfrm>
            <a:off x="8206671" y="1619263"/>
            <a:ext cx="7048473" cy="7048473"/>
          </a:xfrm>
          <a:prstGeom prst="rect">
            <a:avLst/>
          </a:prstGeom>
          <a:blipFill>
            <a:blip r:embed="rId4">
              <a:alphaModFix amt="6283"/>
            </a:blip>
            <a:stretch>
              <a:fillRect/>
            </a:stretch>
          </a:blipFill>
          <a:ln w="12700">
            <a:miter lim="400000"/>
          </a:ln>
        </p:spPr>
        <p:txBody>
          <a:bodyPr lIns="45719" rIns="45719"/>
          <a:lstStyle/>
          <a:p>
            <a:endParaRPr/>
          </a:p>
        </p:txBody>
      </p:sp>
      <p:sp>
        <p:nvSpPr>
          <p:cNvPr id="101" name="TextBox 12"/>
          <p:cNvSpPr txBox="1"/>
          <p:nvPr/>
        </p:nvSpPr>
        <p:spPr>
          <a:xfrm>
            <a:off x="477672" y="1873223"/>
            <a:ext cx="16118006" cy="75377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marL="651509" lvl="1" indent="-325754">
              <a:lnSpc>
                <a:spcPts val="8600"/>
              </a:lnSpc>
              <a:buSzPct val="100000"/>
              <a:buFont typeface="Arial"/>
              <a:buChar char="•"/>
              <a:defRPr sz="3600" b="1">
                <a:latin typeface="Arial"/>
                <a:ea typeface="Arial"/>
                <a:cs typeface="Arial"/>
                <a:sym typeface="Arial"/>
              </a:defRPr>
            </a:pPr>
            <a:r>
              <a:rPr sz="3200" dirty="0"/>
              <a:t>Problem Statement Title:</a:t>
            </a:r>
            <a:r>
              <a:rPr lang="en-IN" sz="3200" dirty="0"/>
              <a:t> </a:t>
            </a:r>
            <a:r>
              <a:rPr lang="en-US" sz="3200" dirty="0">
                <a:sym typeface="Arial"/>
              </a:rPr>
              <a:t>AI-Powered Smart Urban Mobility &amp; Traffic Intelligence Platform for Bengaluru</a:t>
            </a:r>
            <a:endParaRPr sz="3200" dirty="0"/>
          </a:p>
          <a:p>
            <a:pPr marL="651509" lvl="1" indent="-325754" algn="just">
              <a:lnSpc>
                <a:spcPts val="8600"/>
              </a:lnSpc>
              <a:buSzPct val="100000"/>
              <a:buFont typeface="Arial"/>
              <a:buChar char="•"/>
              <a:defRPr sz="3600" b="1">
                <a:latin typeface="Arial"/>
                <a:ea typeface="Arial"/>
                <a:cs typeface="Arial"/>
                <a:sym typeface="Arial"/>
              </a:defRPr>
            </a:pPr>
            <a:r>
              <a:rPr sz="3200" dirty="0"/>
              <a:t>Theme:</a:t>
            </a:r>
            <a:r>
              <a:rPr lang="en-IN" sz="3200" dirty="0"/>
              <a:t> </a:t>
            </a:r>
            <a:r>
              <a:rPr lang="en-US" sz="3200" b="1" dirty="0">
                <a:sym typeface="Arial"/>
              </a:rPr>
              <a:t>Using Azure AI and real-time data to solve urban traffic congestion.</a:t>
            </a:r>
            <a:endParaRPr lang="en-US" sz="3200" dirty="0"/>
          </a:p>
          <a:p>
            <a:pPr marL="651509" lvl="1" indent="-325754" algn="just">
              <a:lnSpc>
                <a:spcPts val="8600"/>
              </a:lnSpc>
              <a:buSzPct val="100000"/>
              <a:buFont typeface="Arial"/>
              <a:buChar char="•"/>
              <a:defRPr sz="3600" b="1">
                <a:latin typeface="Arial"/>
                <a:ea typeface="Arial"/>
                <a:cs typeface="Arial"/>
                <a:sym typeface="Arial"/>
              </a:defRPr>
            </a:pPr>
            <a:r>
              <a:rPr lang="en-US" sz="3200" dirty="0"/>
              <a:t>Team Name: </a:t>
            </a:r>
            <a:r>
              <a:rPr lang="en-IN" sz="3200" dirty="0"/>
              <a:t>Tech Titans</a:t>
            </a:r>
            <a:endParaRPr lang="en-US" sz="3200" dirty="0"/>
          </a:p>
          <a:p>
            <a:pPr marL="651509" lvl="1" indent="-325754" algn="just">
              <a:lnSpc>
                <a:spcPts val="8600"/>
              </a:lnSpc>
              <a:buSzPct val="100000"/>
              <a:buFont typeface="Arial"/>
              <a:buChar char="•"/>
              <a:defRPr sz="3600" b="1">
                <a:latin typeface="Arial"/>
                <a:ea typeface="Arial"/>
                <a:cs typeface="Arial"/>
                <a:sym typeface="Arial"/>
              </a:defRPr>
            </a:pPr>
            <a:r>
              <a:rPr sz="3200" dirty="0"/>
              <a:t>Team Leader’s Name:</a:t>
            </a:r>
            <a:r>
              <a:rPr lang="en-IN" sz="3200" dirty="0"/>
              <a:t> Pudi Pavani</a:t>
            </a:r>
            <a:endParaRPr sz="3200" dirty="0"/>
          </a:p>
          <a:p>
            <a:pPr marL="651509" lvl="1" indent="-325754">
              <a:lnSpc>
                <a:spcPts val="8600"/>
              </a:lnSpc>
              <a:buSzPct val="100000"/>
              <a:buFont typeface="Arial"/>
              <a:buChar char="•"/>
              <a:defRPr sz="3600" b="1">
                <a:latin typeface="Arial"/>
                <a:ea typeface="Arial"/>
                <a:cs typeface="Arial"/>
                <a:sym typeface="Arial"/>
              </a:defRPr>
            </a:pPr>
            <a:r>
              <a:rPr sz="3200" dirty="0"/>
              <a:t>Team Members Name :</a:t>
            </a:r>
            <a:r>
              <a:rPr lang="en-IN" sz="3200" dirty="0"/>
              <a:t> Kumatha Thriveni, Kurra </a:t>
            </a:r>
            <a:r>
              <a:rPr lang="en-IN" sz="3200" dirty="0" err="1"/>
              <a:t>Pothula</a:t>
            </a:r>
            <a:r>
              <a:rPr lang="en-IN" sz="3200" dirty="0"/>
              <a:t> Bhanu Gowtham, </a:t>
            </a:r>
            <a:r>
              <a:rPr lang="en-IN" sz="3200" dirty="0" err="1"/>
              <a:t>Lagisetty</a:t>
            </a:r>
            <a:r>
              <a:rPr lang="en-IN" sz="3200" dirty="0"/>
              <a:t> Mahesh, </a:t>
            </a:r>
            <a:r>
              <a:rPr lang="en-IN" sz="3200" dirty="0" err="1"/>
              <a:t>Siripireddy</a:t>
            </a:r>
            <a:r>
              <a:rPr lang="en-IN" sz="3200" dirty="0"/>
              <a:t> </a:t>
            </a:r>
            <a:r>
              <a:rPr lang="en-IN" sz="3200" dirty="0" err="1"/>
              <a:t>Vignai</a:t>
            </a:r>
            <a:endParaRPr lang="en-IN" sz="3200"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Group 2"/>
          <p:cNvSpPr/>
          <p:nvPr/>
        </p:nvSpPr>
        <p:spPr>
          <a:xfrm>
            <a:off x="-266700" y="386958"/>
            <a:ext cx="16459200"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lgn="ctr">
              <a:lnSpc>
                <a:spcPts val="5000"/>
              </a:lnSpc>
            </a:pPr>
            <a:endParaRPr dirty="0"/>
          </a:p>
          <a:p>
            <a:pPr algn="ctr">
              <a:lnSpc>
                <a:spcPts val="5000"/>
              </a:lnSpc>
              <a:defRPr sz="4200" b="1">
                <a:latin typeface="Times New Roman"/>
                <a:ea typeface="Times New Roman"/>
                <a:cs typeface="Times New Roman"/>
                <a:sym typeface="Times New Roman"/>
              </a:defRPr>
            </a:pPr>
            <a:r>
              <a:rPr dirty="0"/>
              <a:t>IDEA TITLE</a:t>
            </a:r>
          </a:p>
        </p:txBody>
      </p:sp>
      <p:sp>
        <p:nvSpPr>
          <p:cNvPr id="104" name="TextBox 5"/>
          <p:cNvSpPr txBox="1"/>
          <p:nvPr/>
        </p:nvSpPr>
        <p:spPr>
          <a:xfrm>
            <a:off x="668741" y="1548300"/>
            <a:ext cx="16704860" cy="75205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nSpc>
                <a:spcPts val="4300"/>
              </a:lnSpc>
              <a:defRPr sz="3600" b="1" u="sng">
                <a:solidFill>
                  <a:srgbClr val="1F497D"/>
                </a:solidFill>
                <a:latin typeface="Arial"/>
                <a:ea typeface="Arial"/>
                <a:cs typeface="Arial"/>
                <a:sym typeface="Arial"/>
              </a:defRPr>
            </a:pPr>
            <a:r>
              <a:rPr dirty="0">
                <a:solidFill>
                  <a:schemeClr val="tx1"/>
                </a:solidFill>
              </a:rPr>
              <a:t>Proposed Solution (Describe your Idea)</a:t>
            </a:r>
            <a:endParaRPr lang="en-IN" dirty="0">
              <a:solidFill>
                <a:schemeClr val="tx1"/>
              </a:solidFill>
            </a:endParaRPr>
          </a:p>
          <a:p>
            <a:pPr>
              <a:lnSpc>
                <a:spcPts val="4300"/>
              </a:lnSpc>
              <a:defRPr sz="3600" b="1" u="sng">
                <a:solidFill>
                  <a:srgbClr val="1F497D"/>
                </a:solidFill>
                <a:latin typeface="Arial"/>
                <a:ea typeface="Arial"/>
                <a:cs typeface="Arial"/>
                <a:sym typeface="Arial"/>
              </a:defRPr>
            </a:pPr>
            <a:endParaRPr lang="en-IN" sz="2800" dirty="0">
              <a:solidFill>
                <a:schemeClr val="tx1"/>
              </a:solidFill>
            </a:endParaRPr>
          </a:p>
          <a:p>
            <a:pPr marL="457200" indent="-457200">
              <a:buFont typeface="Arial" panose="020B0604020202020204" pitchFamily="34" charset="0"/>
              <a:buChar char="•"/>
            </a:pPr>
            <a:r>
              <a:rPr lang="en-US" sz="3200" dirty="0"/>
              <a:t>We propose an </a:t>
            </a:r>
            <a:r>
              <a:rPr lang="en-US" sz="3200" b="1" dirty="0"/>
              <a:t>AI-powered smart traffic prediction and route optimization system</a:t>
            </a:r>
            <a:r>
              <a:rPr lang="en-US" sz="3200" dirty="0"/>
              <a:t> built using Microsoft Azure services.</a:t>
            </a:r>
          </a:p>
          <a:p>
            <a:pPr marL="457200" indent="-457200">
              <a:buFont typeface="Arial" panose="020B0604020202020204" pitchFamily="34" charset="0"/>
              <a:buChar char="•"/>
            </a:pPr>
            <a:r>
              <a:rPr lang="en-US" sz="3200" dirty="0"/>
              <a:t>The system collects traffic data from </a:t>
            </a:r>
            <a:r>
              <a:rPr lang="en-US" sz="3200" b="1" dirty="0"/>
              <a:t>GPS and historical datasets</a:t>
            </a:r>
            <a:r>
              <a:rPr lang="en-US" sz="3200" dirty="0"/>
              <a:t>, which is processed using</a:t>
            </a:r>
            <a:r>
              <a:rPr lang="en-US" sz="3200" b="1" dirty="0"/>
              <a:t> IoT Hub</a:t>
            </a:r>
            <a:r>
              <a:rPr lang="en-US" sz="3200" dirty="0"/>
              <a:t> and stored in</a:t>
            </a:r>
            <a:r>
              <a:rPr lang="en-US" sz="3200" b="1" dirty="0"/>
              <a:t> Database</a:t>
            </a:r>
            <a:r>
              <a:rPr lang="en-US" sz="3200" dirty="0"/>
              <a:t>.</a:t>
            </a:r>
          </a:p>
          <a:p>
            <a:pPr marL="457200" indent="-457200">
              <a:buFont typeface="Arial" panose="020B0604020202020204" pitchFamily="34" charset="0"/>
              <a:buChar char="•"/>
            </a:pPr>
            <a:r>
              <a:rPr lang="en-US" sz="3200" dirty="0"/>
              <a:t>Using </a:t>
            </a:r>
            <a:r>
              <a:rPr lang="en-US" sz="3200" b="1" dirty="0"/>
              <a:t>Azure Machine Learning</a:t>
            </a:r>
            <a:r>
              <a:rPr lang="en-US" sz="3200" dirty="0"/>
              <a:t>, the system analyzes this data to </a:t>
            </a:r>
            <a:r>
              <a:rPr lang="en-US" sz="3200" b="1" dirty="0"/>
              <a:t>predict traffic conditions 10 minutes in advance</a:t>
            </a:r>
            <a:r>
              <a:rPr lang="en-US" sz="3200" dirty="0"/>
              <a:t>. The predicted results are displayed on a </a:t>
            </a:r>
            <a:r>
              <a:rPr lang="en-US" sz="3200" b="1" dirty="0"/>
              <a:t>web application</a:t>
            </a:r>
            <a:r>
              <a:rPr lang="en-US" sz="3200" dirty="0"/>
              <a:t> developed for users and authorities.</a:t>
            </a:r>
          </a:p>
          <a:p>
            <a:pPr marL="457200" indent="-457200">
              <a:buFont typeface="Arial" panose="020B0604020202020204" pitchFamily="34" charset="0"/>
              <a:buChar char="•"/>
            </a:pPr>
            <a:r>
              <a:rPr lang="en-US" sz="3200" dirty="0"/>
              <a:t>In the website, users enter their </a:t>
            </a:r>
            <a:r>
              <a:rPr lang="en-US" sz="3200" b="1" dirty="0"/>
              <a:t>start and destination locations</a:t>
            </a:r>
            <a:r>
              <a:rPr lang="en-US" sz="3200" dirty="0"/>
              <a:t>, and the system suggests the </a:t>
            </a:r>
            <a:r>
              <a:rPr lang="en-US" sz="3200" b="1" dirty="0"/>
              <a:t>best and least congested route</a:t>
            </a:r>
            <a:r>
              <a:rPr lang="en-US" sz="3200" dirty="0"/>
              <a:t> using </a:t>
            </a:r>
            <a:r>
              <a:rPr lang="en-US" sz="3200" b="1" dirty="0"/>
              <a:t>Maps</a:t>
            </a:r>
            <a:r>
              <a:rPr lang="en-US" sz="3200" dirty="0"/>
              <a:t>. If traffic is expected, it provides </a:t>
            </a:r>
            <a:r>
              <a:rPr lang="en-US" sz="3200" b="1" dirty="0"/>
              <a:t>alternate routes</a:t>
            </a:r>
            <a:r>
              <a:rPr lang="en-US" sz="3200" dirty="0"/>
              <a:t>, helping users avoid delays.</a:t>
            </a:r>
          </a:p>
          <a:p>
            <a:pPr marL="457200" indent="-457200">
              <a:buFont typeface="Arial" panose="020B0604020202020204" pitchFamily="34" charset="0"/>
              <a:buChar char="•"/>
            </a:pPr>
            <a:r>
              <a:rPr lang="en-US" sz="3200" dirty="0"/>
              <a:t>Additionally, the system analyzes historical data to identify </a:t>
            </a:r>
            <a:r>
              <a:rPr lang="en-US" sz="3200" b="1" dirty="0"/>
              <a:t>peak traffic times and high congestion areas</a:t>
            </a:r>
            <a:r>
              <a:rPr lang="en-US" sz="3200" dirty="0"/>
              <a:t>, allowing users to plan their travel more efficiently.</a:t>
            </a:r>
          </a:p>
          <a:p>
            <a:pPr marL="285750" indent="-285750">
              <a:lnSpc>
                <a:spcPts val="4300"/>
              </a:lnSpc>
              <a:buFont typeface="Arial" panose="020B0604020202020204" pitchFamily="34" charset="0"/>
              <a:buChar char="•"/>
            </a:pPr>
            <a:endParaRPr lang="en-IN" sz="2800" dirty="0">
              <a:solidFill>
                <a:schemeClr val="tx1"/>
              </a:solidFill>
            </a:endParaRPr>
          </a:p>
        </p:txBody>
      </p:sp>
      <p:grpSp>
        <p:nvGrpSpPr>
          <p:cNvPr id="107" name="Group 6"/>
          <p:cNvGrpSpPr/>
          <p:nvPr/>
        </p:nvGrpSpPr>
        <p:grpSpPr>
          <a:xfrm>
            <a:off x="13106400" y="9534524"/>
            <a:ext cx="4267200" cy="547689"/>
            <a:chOff x="0" y="0"/>
            <a:chExt cx="4267200" cy="547687"/>
          </a:xfrm>
        </p:grpSpPr>
        <p:sp>
          <p:nvSpPr>
            <p:cNvPr id="105" name="Freeform 7"/>
            <p:cNvSpPr/>
            <p:nvPr/>
          </p:nvSpPr>
          <p:spPr>
            <a:xfrm>
              <a:off x="0" y="-1"/>
              <a:ext cx="4267200" cy="547689"/>
            </a:xfrm>
            <a:prstGeom prst="rect">
              <a:avLst/>
            </a:prstGeom>
            <a:blipFill rotWithShape="1">
              <a:blip r:embed="rId3"/>
              <a:srcRect/>
              <a:stretch>
                <a:fillRect/>
              </a:stretch>
            </a:blipFill>
            <a:ln w="12700" cap="flat">
              <a:noFill/>
              <a:miter lim="400000"/>
            </a:ln>
            <a:effectLst/>
          </p:spPr>
          <p:txBody>
            <a:bodyPr wrap="square" lIns="45719" tIns="45719" rIns="45719" bIns="45719" numCol="1" anchor="t">
              <a:noAutofit/>
            </a:bodyPr>
            <a:lstStyle/>
            <a:p>
              <a:endParaRPr/>
            </a:p>
          </p:txBody>
        </p:sp>
        <p:sp>
          <p:nvSpPr>
            <p:cNvPr id="106" name="TextBox 8"/>
            <p:cNvSpPr txBox="1"/>
            <p:nvPr/>
          </p:nvSpPr>
          <p:spPr>
            <a:xfrm>
              <a:off x="0" y="133733"/>
              <a:ext cx="4267200" cy="26593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lgn="r">
                <a:lnSpc>
                  <a:spcPts val="2100"/>
                </a:lnSpc>
                <a:defRPr b="1">
                  <a:solidFill>
                    <a:srgbClr val="FFFFFF"/>
                  </a:solidFill>
                  <a:latin typeface="Arimo Bold"/>
                  <a:ea typeface="Arimo Bold"/>
                  <a:cs typeface="Arimo Bold"/>
                  <a:sym typeface="Arimo Bold"/>
                </a:defRPr>
              </a:lvl1pPr>
            </a:lstStyle>
            <a:p>
              <a:r>
                <a:t>2</a:t>
              </a:r>
            </a:p>
          </p:txBody>
        </p:sp>
      </p:grpSp>
      <p:grpSp>
        <p:nvGrpSpPr>
          <p:cNvPr id="110" name="Group 9"/>
          <p:cNvGrpSpPr/>
          <p:nvPr/>
        </p:nvGrpSpPr>
        <p:grpSpPr>
          <a:xfrm>
            <a:off x="6972299" y="9534524"/>
            <a:ext cx="4806002" cy="547689"/>
            <a:chOff x="0" y="0"/>
            <a:chExt cx="4806000" cy="547687"/>
          </a:xfrm>
        </p:grpSpPr>
        <p:sp>
          <p:nvSpPr>
            <p:cNvPr id="108" name="Freeform 10"/>
            <p:cNvSpPr/>
            <p:nvPr/>
          </p:nvSpPr>
          <p:spPr>
            <a:xfrm>
              <a:off x="-1" y="-1"/>
              <a:ext cx="4806002" cy="547689"/>
            </a:xfrm>
            <a:prstGeom prst="rect">
              <a:avLst/>
            </a:prstGeom>
            <a:blipFill rotWithShape="1">
              <a:blip r:embed="rId3"/>
              <a:srcRect/>
              <a:stretch>
                <a:fillRect/>
              </a:stretch>
            </a:blipFill>
            <a:ln w="12700" cap="flat">
              <a:noFill/>
              <a:miter lim="400000"/>
            </a:ln>
            <a:effectLst/>
          </p:spPr>
          <p:txBody>
            <a:bodyPr wrap="square" lIns="45719" tIns="45719" rIns="45719" bIns="45719" numCol="1" anchor="t">
              <a:noAutofit/>
            </a:bodyPr>
            <a:lstStyle/>
            <a:p>
              <a:endParaRPr/>
            </a:p>
          </p:txBody>
        </p:sp>
        <p:sp>
          <p:nvSpPr>
            <p:cNvPr id="109" name="TextBox 11"/>
            <p:cNvSpPr txBox="1"/>
            <p:nvPr/>
          </p:nvSpPr>
          <p:spPr>
            <a:xfrm>
              <a:off x="0" y="133733"/>
              <a:ext cx="4806001" cy="26593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lgn="ctr">
                <a:lnSpc>
                  <a:spcPts val="2100"/>
                </a:lnSpc>
                <a:defRPr>
                  <a:solidFill>
                    <a:srgbClr val="FFFFFF"/>
                  </a:solidFill>
                  <a:latin typeface="Arimo"/>
                  <a:ea typeface="Arimo"/>
                  <a:cs typeface="Arimo"/>
                  <a:sym typeface="Arimo"/>
                </a:defRPr>
              </a:lvl1pPr>
            </a:lstStyle>
            <a:p>
              <a:r>
                <a:t>ASAC</a:t>
              </a:r>
            </a:p>
          </p:txBody>
        </p:sp>
      </p:grpSp>
      <p:sp>
        <p:nvSpPr>
          <p:cNvPr id="111" name="Freeform 12"/>
          <p:cNvSpPr/>
          <p:nvPr/>
        </p:nvSpPr>
        <p:spPr>
          <a:xfrm>
            <a:off x="0" y="-1"/>
            <a:ext cx="3016469" cy="1161342"/>
          </a:xfrm>
          <a:prstGeom prst="rect">
            <a:avLst/>
          </a:prstGeom>
          <a:blipFill>
            <a:blip r:embed="rId4"/>
            <a:stretch>
              <a:fillRect/>
            </a:stretch>
          </a:blipFill>
          <a:ln w="12700">
            <a:miter lim="400000"/>
          </a:ln>
        </p:spPr>
        <p:txBody>
          <a:bodyPr lIns="45719" rIns="45719"/>
          <a:lstStyle/>
          <a:p>
            <a:endParaRPr/>
          </a:p>
        </p:txBody>
      </p:sp>
      <p:sp>
        <p:nvSpPr>
          <p:cNvPr id="112" name="Freeform 14"/>
          <p:cNvSpPr/>
          <p:nvPr/>
        </p:nvSpPr>
        <p:spPr>
          <a:xfrm>
            <a:off x="13482828" y="0"/>
            <a:ext cx="4805173" cy="883444"/>
          </a:xfrm>
          <a:prstGeom prst="rect">
            <a:avLst/>
          </a:prstGeom>
          <a:blipFill>
            <a:blip r:embed="rId5"/>
            <a:stretch>
              <a:fillRect/>
            </a:stretch>
          </a:blipFill>
          <a:ln w="12700">
            <a:miter lim="400000"/>
          </a:ln>
        </p:spPr>
        <p:txBody>
          <a:bodyPr lIns="45719" rIns="45719"/>
          <a:lstStyle/>
          <a:p>
            <a:endParaRPr/>
          </a:p>
        </p:txBody>
      </p:sp>
      <p:grpSp>
        <p:nvGrpSpPr>
          <p:cNvPr id="115" name="Group 15"/>
          <p:cNvGrpSpPr/>
          <p:nvPr/>
        </p:nvGrpSpPr>
        <p:grpSpPr>
          <a:xfrm>
            <a:off x="0" y="9532143"/>
            <a:ext cx="18288001" cy="754858"/>
            <a:chOff x="0" y="0"/>
            <a:chExt cx="18288000" cy="754857"/>
          </a:xfrm>
        </p:grpSpPr>
        <p:sp>
          <p:nvSpPr>
            <p:cNvPr id="113" name="Freeform 16"/>
            <p:cNvSpPr/>
            <p:nvPr/>
          </p:nvSpPr>
          <p:spPr>
            <a:xfrm>
              <a:off x="0" y="0"/>
              <a:ext cx="18288001" cy="754858"/>
            </a:xfrm>
            <a:prstGeom prst="rect">
              <a:avLst/>
            </a:prstGeom>
            <a:solidFill>
              <a:srgbClr val="0070C0"/>
            </a:solidFill>
            <a:ln w="12700" cap="flat">
              <a:noFill/>
              <a:miter lim="400000"/>
            </a:ln>
            <a:effectLst/>
          </p:spPr>
          <p:txBody>
            <a:bodyPr wrap="square" lIns="45719" tIns="45719" rIns="45719" bIns="45719" numCol="1" anchor="t">
              <a:noAutofit/>
            </a:bodyPr>
            <a:lstStyle/>
            <a:p>
              <a:endParaRPr/>
            </a:p>
          </p:txBody>
        </p:sp>
        <p:sp>
          <p:nvSpPr>
            <p:cNvPr id="114" name="TextBox 9"/>
            <p:cNvSpPr/>
            <p:nvPr/>
          </p:nvSpPr>
          <p:spPr>
            <a:xfrm>
              <a:off x="0" y="377427"/>
              <a:ext cx="18288001"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just">
                <a:lnSpc>
                  <a:spcPts val="3200"/>
                </a:lnSpc>
                <a:defRPr sz="2700">
                  <a:solidFill>
                    <a:srgbClr val="FFFFFF"/>
                  </a:solidFill>
                  <a:latin typeface="Calibri (MS)"/>
                  <a:ea typeface="Calibri (MS)"/>
                  <a:cs typeface="Calibri (MS)"/>
                  <a:sym typeface="Calibri (MS)"/>
                </a:defRPr>
              </a:lvl1pPr>
            </a:lstStyle>
            <a:p>
              <a:r>
                <a:t>                                 Alliance School of Advanced Computing  |  Microsoft Azure Developer Community              2</a:t>
              </a:r>
            </a:p>
          </p:txBody>
        </p:sp>
      </p:gr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Group 2"/>
          <p:cNvSpPr/>
          <p:nvPr/>
        </p:nvSpPr>
        <p:spPr>
          <a:xfrm>
            <a:off x="114300" y="702468"/>
            <a:ext cx="16459200"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5000"/>
              </a:lnSpc>
              <a:defRPr sz="4200" b="1">
                <a:latin typeface="Times New Roman"/>
                <a:ea typeface="Times New Roman"/>
                <a:cs typeface="Times New Roman"/>
                <a:sym typeface="Times New Roman"/>
              </a:defRPr>
            </a:lvl1pPr>
          </a:lstStyle>
          <a:p>
            <a:r>
              <a:rPr dirty="0"/>
              <a:t>TECHNOLOGY &amp; METHODOLOGY</a:t>
            </a:r>
          </a:p>
        </p:txBody>
      </p:sp>
      <p:sp>
        <p:nvSpPr>
          <p:cNvPr id="120" name="TextBox 5"/>
          <p:cNvSpPr txBox="1"/>
          <p:nvPr/>
        </p:nvSpPr>
        <p:spPr>
          <a:xfrm>
            <a:off x="341194" y="1077517"/>
            <a:ext cx="17387248" cy="4086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marL="325755" lvl="1" indent="0" algn="just">
              <a:lnSpc>
                <a:spcPts val="5400"/>
              </a:lnSpc>
              <a:buSzPct val="100000"/>
              <a:defRPr sz="3600">
                <a:latin typeface="Arial"/>
                <a:ea typeface="Arial"/>
                <a:cs typeface="Arial"/>
                <a:sym typeface="Arial"/>
              </a:defRPr>
            </a:pPr>
            <a:r>
              <a:rPr dirty="0"/>
              <a:t>Technologies to be used</a:t>
            </a:r>
            <a:r>
              <a:rPr lang="en-IN" dirty="0"/>
              <a:t> :</a:t>
            </a:r>
          </a:p>
          <a:p>
            <a:pPr marL="651509" lvl="1" indent="-325754" algn="just">
              <a:lnSpc>
                <a:spcPts val="5400"/>
              </a:lnSpc>
              <a:buSzPct val="100000"/>
              <a:buFont typeface="Arial"/>
              <a:buChar char="•"/>
              <a:defRPr sz="3600">
                <a:latin typeface="Arial"/>
                <a:ea typeface="Arial"/>
                <a:cs typeface="Arial"/>
                <a:sym typeface="Arial"/>
              </a:defRPr>
            </a:pPr>
            <a:r>
              <a:rPr lang="en-IN" dirty="0"/>
              <a:t> Frontend: HTML, CSS, JS (Leaflet.js)</a:t>
            </a:r>
          </a:p>
          <a:p>
            <a:pPr marL="651509" lvl="1" indent="-325754" algn="just">
              <a:lnSpc>
                <a:spcPts val="5400"/>
              </a:lnSpc>
              <a:buSzPct val="100000"/>
              <a:buFont typeface="Arial"/>
              <a:buChar char="•"/>
              <a:defRPr sz="3600">
                <a:latin typeface="Arial"/>
                <a:ea typeface="Arial"/>
                <a:cs typeface="Arial"/>
                <a:sym typeface="Arial"/>
              </a:defRPr>
            </a:pPr>
            <a:r>
              <a:rPr lang="en-IN" dirty="0"/>
              <a:t>Backend: </a:t>
            </a:r>
            <a:r>
              <a:rPr lang="en-IN" dirty="0" err="1"/>
              <a:t>FastAPI</a:t>
            </a:r>
            <a:r>
              <a:rPr lang="en-IN" dirty="0"/>
              <a:t> (Python)</a:t>
            </a:r>
          </a:p>
          <a:p>
            <a:pPr marL="651509" lvl="1" indent="-325754" algn="just">
              <a:lnSpc>
                <a:spcPts val="5400"/>
              </a:lnSpc>
              <a:buSzPct val="100000"/>
              <a:buFont typeface="Arial"/>
              <a:buChar char="•"/>
              <a:defRPr sz="3600">
                <a:latin typeface="Arial"/>
                <a:ea typeface="Arial"/>
                <a:cs typeface="Arial"/>
                <a:sym typeface="Arial"/>
              </a:defRPr>
            </a:pPr>
            <a:r>
              <a:rPr lang="en-IN" dirty="0"/>
              <a:t>APIs: OpenStreetMap, Google Maps (optional)</a:t>
            </a:r>
          </a:p>
          <a:p>
            <a:pPr marL="651509" lvl="1" indent="-325754" algn="just">
              <a:lnSpc>
                <a:spcPts val="5400"/>
              </a:lnSpc>
              <a:buSzPct val="100000"/>
              <a:buFont typeface="Arial"/>
              <a:buChar char="•"/>
              <a:defRPr sz="3600">
                <a:latin typeface="Arial"/>
                <a:ea typeface="Arial"/>
                <a:cs typeface="Arial"/>
                <a:sym typeface="Arial"/>
              </a:defRPr>
            </a:pPr>
            <a:r>
              <a:rPr lang="en-IN" dirty="0"/>
              <a:t>AI: Azure ML (Traffic Prediction)</a:t>
            </a:r>
          </a:p>
          <a:p>
            <a:pPr marL="651509" lvl="1" indent="-325754" algn="just">
              <a:lnSpc>
                <a:spcPts val="5400"/>
              </a:lnSpc>
              <a:buSzPct val="100000"/>
              <a:buFont typeface="Arial"/>
              <a:buChar char="•"/>
              <a:defRPr sz="3600">
                <a:latin typeface="Arial"/>
                <a:ea typeface="Arial"/>
                <a:cs typeface="Arial"/>
                <a:sym typeface="Arial"/>
              </a:defRPr>
            </a:pPr>
            <a:r>
              <a:rPr lang="en-IN" dirty="0"/>
              <a:t>Tools: </a:t>
            </a:r>
            <a:r>
              <a:rPr lang="en-IN" dirty="0" err="1"/>
              <a:t>Uvicorn</a:t>
            </a:r>
            <a:r>
              <a:rPr lang="en-IN" dirty="0"/>
              <a:t>, </a:t>
            </a:r>
            <a:r>
              <a:rPr lang="en-IN" dirty="0" err="1"/>
              <a:t>Dotenv</a:t>
            </a:r>
            <a:endParaRPr lang="en-IN" dirty="0"/>
          </a:p>
        </p:txBody>
      </p:sp>
      <p:grpSp>
        <p:nvGrpSpPr>
          <p:cNvPr id="123" name="Group 6"/>
          <p:cNvGrpSpPr/>
          <p:nvPr/>
        </p:nvGrpSpPr>
        <p:grpSpPr>
          <a:xfrm>
            <a:off x="13106400" y="9534524"/>
            <a:ext cx="4267200" cy="547689"/>
            <a:chOff x="0" y="0"/>
            <a:chExt cx="4267200" cy="547687"/>
          </a:xfrm>
        </p:grpSpPr>
        <p:sp>
          <p:nvSpPr>
            <p:cNvPr id="121" name="Freeform 7"/>
            <p:cNvSpPr/>
            <p:nvPr/>
          </p:nvSpPr>
          <p:spPr>
            <a:xfrm>
              <a:off x="0" y="-1"/>
              <a:ext cx="4267200" cy="547689"/>
            </a:xfrm>
            <a:prstGeom prst="rect">
              <a:avLst/>
            </a:prstGeom>
            <a:blipFill rotWithShape="1">
              <a:blip r:embed="rId3"/>
              <a:srcRect/>
              <a:stretch>
                <a:fillRect/>
              </a:stretch>
            </a:blipFill>
            <a:ln w="12700" cap="flat">
              <a:noFill/>
              <a:miter lim="400000"/>
            </a:ln>
            <a:effectLst/>
          </p:spPr>
          <p:txBody>
            <a:bodyPr wrap="square" lIns="45719" tIns="45719" rIns="45719" bIns="45719" numCol="1" anchor="t">
              <a:noAutofit/>
            </a:bodyPr>
            <a:lstStyle/>
            <a:p>
              <a:endParaRPr/>
            </a:p>
          </p:txBody>
        </p:sp>
        <p:sp>
          <p:nvSpPr>
            <p:cNvPr id="122" name="TextBox 8"/>
            <p:cNvSpPr txBox="1"/>
            <p:nvPr/>
          </p:nvSpPr>
          <p:spPr>
            <a:xfrm>
              <a:off x="0" y="50422"/>
              <a:ext cx="4267200" cy="40398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lgn="r">
                <a:lnSpc>
                  <a:spcPts val="3200"/>
                </a:lnSpc>
                <a:defRPr sz="2700" b="1">
                  <a:solidFill>
                    <a:srgbClr val="FFFFFF"/>
                  </a:solidFill>
                  <a:latin typeface="Calibri (MS) Bold"/>
                  <a:ea typeface="Calibri (MS) Bold"/>
                  <a:cs typeface="Calibri (MS) Bold"/>
                  <a:sym typeface="Calibri (MS) Bold"/>
                </a:defRPr>
              </a:lvl1pPr>
            </a:lstStyle>
            <a:p>
              <a:r>
                <a:t>3</a:t>
              </a:r>
            </a:p>
          </p:txBody>
        </p:sp>
      </p:grpSp>
      <p:grpSp>
        <p:nvGrpSpPr>
          <p:cNvPr id="126" name="Group 9"/>
          <p:cNvGrpSpPr/>
          <p:nvPr/>
        </p:nvGrpSpPr>
        <p:grpSpPr>
          <a:xfrm>
            <a:off x="6000750" y="9635728"/>
            <a:ext cx="6286500" cy="547689"/>
            <a:chOff x="0" y="0"/>
            <a:chExt cx="6286500" cy="547687"/>
          </a:xfrm>
        </p:grpSpPr>
        <p:sp>
          <p:nvSpPr>
            <p:cNvPr id="124" name="Freeform 10"/>
            <p:cNvSpPr/>
            <p:nvPr/>
          </p:nvSpPr>
          <p:spPr>
            <a:xfrm>
              <a:off x="0" y="-1"/>
              <a:ext cx="6286500" cy="547689"/>
            </a:xfrm>
            <a:prstGeom prst="rect">
              <a:avLst/>
            </a:prstGeom>
            <a:blipFill rotWithShape="1">
              <a:blip r:embed="rId3"/>
              <a:srcRect/>
              <a:stretch>
                <a:fillRect/>
              </a:stretch>
            </a:blipFill>
            <a:ln w="12700" cap="flat">
              <a:noFill/>
              <a:miter lim="400000"/>
            </a:ln>
            <a:effectLst/>
          </p:spPr>
          <p:txBody>
            <a:bodyPr wrap="square" lIns="45719" tIns="45719" rIns="45719" bIns="45719" numCol="1" anchor="t">
              <a:noAutofit/>
            </a:bodyPr>
            <a:lstStyle/>
            <a:p>
              <a:endParaRPr/>
            </a:p>
          </p:txBody>
        </p:sp>
        <p:sp>
          <p:nvSpPr>
            <p:cNvPr id="125" name="TextBox 11"/>
            <p:cNvSpPr txBox="1"/>
            <p:nvPr/>
          </p:nvSpPr>
          <p:spPr>
            <a:xfrm>
              <a:off x="0" y="50422"/>
              <a:ext cx="6286500" cy="40398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lgn="ctr">
                <a:lnSpc>
                  <a:spcPts val="3200"/>
                </a:lnSpc>
                <a:defRPr sz="2700">
                  <a:solidFill>
                    <a:srgbClr val="FFFFFF"/>
                  </a:solidFill>
                  <a:latin typeface="Calibri (MS)"/>
                  <a:ea typeface="Calibri (MS)"/>
                  <a:cs typeface="Calibri (MS)"/>
                  <a:sym typeface="Calibri (MS)"/>
                </a:defRPr>
              </a:lvl1pPr>
            </a:lstStyle>
            <a:p>
              <a:r>
                <a:t>Alliance School of Advanced Computing</a:t>
              </a:r>
            </a:p>
          </p:txBody>
        </p:sp>
      </p:grpSp>
      <p:sp>
        <p:nvSpPr>
          <p:cNvPr id="127" name="Freeform 12"/>
          <p:cNvSpPr/>
          <p:nvPr/>
        </p:nvSpPr>
        <p:spPr>
          <a:xfrm>
            <a:off x="0" y="-1"/>
            <a:ext cx="3016469" cy="1161342"/>
          </a:xfrm>
          <a:prstGeom prst="rect">
            <a:avLst/>
          </a:prstGeom>
          <a:blipFill>
            <a:blip r:embed="rId4"/>
            <a:stretch>
              <a:fillRect/>
            </a:stretch>
          </a:blipFill>
          <a:ln w="12700">
            <a:miter lim="400000"/>
          </a:ln>
        </p:spPr>
        <p:txBody>
          <a:bodyPr lIns="45719" rIns="45719"/>
          <a:lstStyle/>
          <a:p>
            <a:endParaRPr/>
          </a:p>
        </p:txBody>
      </p:sp>
      <p:sp>
        <p:nvSpPr>
          <p:cNvPr id="128" name="Freeform 14"/>
          <p:cNvSpPr/>
          <p:nvPr/>
        </p:nvSpPr>
        <p:spPr>
          <a:xfrm>
            <a:off x="13482828" y="0"/>
            <a:ext cx="4805173" cy="883444"/>
          </a:xfrm>
          <a:prstGeom prst="rect">
            <a:avLst/>
          </a:prstGeom>
          <a:blipFill>
            <a:blip r:embed="rId5"/>
            <a:stretch>
              <a:fillRect/>
            </a:stretch>
          </a:blipFill>
          <a:ln w="12700">
            <a:miter lim="400000"/>
          </a:ln>
        </p:spPr>
        <p:txBody>
          <a:bodyPr lIns="45719" rIns="45719"/>
          <a:lstStyle/>
          <a:p>
            <a:endParaRPr/>
          </a:p>
        </p:txBody>
      </p:sp>
      <p:grpSp>
        <p:nvGrpSpPr>
          <p:cNvPr id="131" name="Group 15"/>
          <p:cNvGrpSpPr/>
          <p:nvPr/>
        </p:nvGrpSpPr>
        <p:grpSpPr>
          <a:xfrm>
            <a:off x="0" y="9532143"/>
            <a:ext cx="18288001" cy="754858"/>
            <a:chOff x="0" y="0"/>
            <a:chExt cx="18288000" cy="754857"/>
          </a:xfrm>
        </p:grpSpPr>
        <p:sp>
          <p:nvSpPr>
            <p:cNvPr id="129" name="Freeform 16"/>
            <p:cNvSpPr/>
            <p:nvPr/>
          </p:nvSpPr>
          <p:spPr>
            <a:xfrm>
              <a:off x="0" y="0"/>
              <a:ext cx="18288001" cy="754858"/>
            </a:xfrm>
            <a:prstGeom prst="rect">
              <a:avLst/>
            </a:prstGeom>
            <a:solidFill>
              <a:srgbClr val="0070C0"/>
            </a:solidFill>
            <a:ln w="12700" cap="flat">
              <a:noFill/>
              <a:miter lim="400000"/>
            </a:ln>
            <a:effectLst/>
          </p:spPr>
          <p:txBody>
            <a:bodyPr wrap="square" lIns="45719" tIns="45719" rIns="45719" bIns="45719" numCol="1" anchor="t">
              <a:noAutofit/>
            </a:bodyPr>
            <a:lstStyle/>
            <a:p>
              <a:endParaRPr/>
            </a:p>
          </p:txBody>
        </p:sp>
        <p:sp>
          <p:nvSpPr>
            <p:cNvPr id="130" name="TextBox 9"/>
            <p:cNvSpPr/>
            <p:nvPr/>
          </p:nvSpPr>
          <p:spPr>
            <a:xfrm>
              <a:off x="0" y="377427"/>
              <a:ext cx="18288001"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just">
                <a:lnSpc>
                  <a:spcPts val="3200"/>
                </a:lnSpc>
                <a:defRPr sz="2700">
                  <a:solidFill>
                    <a:srgbClr val="FFFFFF"/>
                  </a:solidFill>
                  <a:latin typeface="Calibri (MS)"/>
                  <a:ea typeface="Calibri (MS)"/>
                  <a:cs typeface="Calibri (MS)"/>
                  <a:sym typeface="Calibri (MS)"/>
                </a:defRPr>
              </a:lvl1pPr>
            </a:lstStyle>
            <a:p>
              <a:r>
                <a:rPr dirty="0"/>
                <a:t>                                 Alliance School of Advanced Computing  |  Microsoft Azure Developer Community              3</a:t>
              </a:r>
            </a:p>
          </p:txBody>
        </p:sp>
      </p:grpSp>
      <p:sp>
        <p:nvSpPr>
          <p:cNvPr id="2" name="TextBox 1">
            <a:extLst>
              <a:ext uri="{FF2B5EF4-FFF2-40B4-BE49-F238E27FC236}">
                <a16:creationId xmlns:a16="http://schemas.microsoft.com/office/drawing/2014/main" id="{186F3AC1-2BCA-465B-1280-0A72835EBD26}"/>
              </a:ext>
            </a:extLst>
          </p:cNvPr>
          <p:cNvSpPr txBox="1"/>
          <p:nvPr/>
        </p:nvSpPr>
        <p:spPr>
          <a:xfrm>
            <a:off x="559557" y="5164469"/>
            <a:ext cx="16814043" cy="39703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IN" sz="3600" b="0" i="0" u="none" strike="noStrike" cap="none" spc="0" normalizeH="0" baseline="0" dirty="0">
                <a:ln>
                  <a:noFill/>
                </a:ln>
                <a:solidFill>
                  <a:srgbClr val="000000"/>
                </a:solidFill>
                <a:effectLst/>
                <a:uFillTx/>
                <a:latin typeface="+mj-lt"/>
                <a:ea typeface="+mj-ea"/>
                <a:cs typeface="+mj-cs"/>
                <a:sym typeface="Calibri"/>
              </a:rPr>
              <a:t>METHODOLOGY :</a:t>
            </a:r>
          </a:p>
          <a:p>
            <a:r>
              <a:rPr lang="en-IN" sz="3600" dirty="0"/>
              <a:t>User Input → Backend API → AI Prediction → Route Optimization → Map Output</a:t>
            </a:r>
          </a:p>
          <a:p>
            <a:pPr marL="571500" indent="-571500">
              <a:buFont typeface="Arial" panose="020B0604020202020204" pitchFamily="34" charset="0"/>
              <a:buChar char="•"/>
            </a:pPr>
            <a:r>
              <a:rPr lang="en-IN" sz="3600" dirty="0"/>
              <a:t> User enters source &amp; destination</a:t>
            </a:r>
          </a:p>
          <a:p>
            <a:pPr marL="571500" indent="-571500">
              <a:buFont typeface="Arial" panose="020B0604020202020204" pitchFamily="34" charset="0"/>
              <a:buChar char="•"/>
            </a:pPr>
            <a:r>
              <a:rPr lang="en-IN" sz="3600" dirty="0"/>
              <a:t> Backend processes routes</a:t>
            </a:r>
          </a:p>
          <a:p>
            <a:pPr marL="571500" indent="-571500">
              <a:buFont typeface="Arial" panose="020B0604020202020204" pitchFamily="34" charset="0"/>
              <a:buChar char="•"/>
            </a:pPr>
            <a:r>
              <a:rPr lang="en-IN" sz="3600" dirty="0"/>
              <a:t> AI predicts traffic (10-min ahead)</a:t>
            </a:r>
          </a:p>
          <a:p>
            <a:pPr marL="571500" indent="-571500">
              <a:buFont typeface="Arial" panose="020B0604020202020204" pitchFamily="34" charset="0"/>
              <a:buChar char="•"/>
            </a:pPr>
            <a:r>
              <a:rPr lang="en-IN" sz="3600" dirty="0"/>
              <a:t> Multiple routes generated</a:t>
            </a:r>
          </a:p>
          <a:p>
            <a:pPr marL="571500" indent="-571500">
              <a:buFont typeface="Arial" panose="020B0604020202020204" pitchFamily="34" charset="0"/>
              <a:buChar char="•"/>
            </a:pPr>
            <a:r>
              <a:rPr lang="en-IN" sz="3600" dirty="0"/>
              <a:t> Best route selected &amp; displayed</a:t>
            </a:r>
            <a:endParaRPr kumimoji="0" lang="en-IN" sz="3600" b="0" i="0" u="none" strike="noStrike" cap="none" spc="0" normalizeH="0" baseline="0" dirty="0">
              <a:ln>
                <a:noFill/>
              </a:ln>
              <a:solidFill>
                <a:srgbClr val="000000"/>
              </a:solidFill>
              <a:effectLst/>
              <a:uFillTx/>
              <a:latin typeface="+mj-lt"/>
              <a:ea typeface="+mj-ea"/>
              <a:cs typeface="+mj-cs"/>
              <a:sym typeface="Calibri"/>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F721664-A793-A522-1906-CFEEF01D4E8B}"/>
              </a:ext>
            </a:extLst>
          </p:cNvPr>
          <p:cNvSpPr txBox="1"/>
          <p:nvPr/>
        </p:nvSpPr>
        <p:spPr>
          <a:xfrm>
            <a:off x="6305266" y="682387"/>
            <a:ext cx="5813945" cy="646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IN" sz="36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Calibri"/>
              </a:rPr>
              <a:t>ARCHITECTURE</a:t>
            </a:r>
            <a:endParaRPr kumimoji="0" lang="en-IN" sz="3600" b="1"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Calibri"/>
            </a:endParaRPr>
          </a:p>
        </p:txBody>
      </p:sp>
      <p:pic>
        <p:nvPicPr>
          <p:cNvPr id="6" name="Picture 5">
            <a:extLst>
              <a:ext uri="{FF2B5EF4-FFF2-40B4-BE49-F238E27FC236}">
                <a16:creationId xmlns:a16="http://schemas.microsoft.com/office/drawing/2014/main" id="{8B258D92-25AE-D735-5229-8FCCFFC728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4841" y="1462087"/>
            <a:ext cx="16854985" cy="8142526"/>
          </a:xfrm>
          <a:prstGeom prst="rect">
            <a:avLst/>
          </a:prstGeom>
        </p:spPr>
      </p:pic>
      <p:sp>
        <p:nvSpPr>
          <p:cNvPr id="7" name="Freeform 12">
            <a:extLst>
              <a:ext uri="{FF2B5EF4-FFF2-40B4-BE49-F238E27FC236}">
                <a16:creationId xmlns:a16="http://schemas.microsoft.com/office/drawing/2014/main" id="{75A41DAD-3158-5CC7-BD28-69BB78553929}"/>
              </a:ext>
            </a:extLst>
          </p:cNvPr>
          <p:cNvSpPr/>
          <p:nvPr/>
        </p:nvSpPr>
        <p:spPr>
          <a:xfrm>
            <a:off x="0" y="-1"/>
            <a:ext cx="3016469" cy="1161342"/>
          </a:xfrm>
          <a:prstGeom prst="rect">
            <a:avLst/>
          </a:prstGeom>
          <a:blipFill>
            <a:blip r:embed="rId3"/>
            <a:stretch>
              <a:fillRect/>
            </a:stretch>
          </a:blipFill>
          <a:ln w="12700">
            <a:miter lim="400000"/>
          </a:ln>
        </p:spPr>
        <p:txBody>
          <a:bodyPr lIns="45719" rIns="45719"/>
          <a:lstStyle/>
          <a:p>
            <a:endParaRPr dirty="0"/>
          </a:p>
        </p:txBody>
      </p:sp>
      <p:sp>
        <p:nvSpPr>
          <p:cNvPr id="8" name="Freeform 14">
            <a:extLst>
              <a:ext uri="{FF2B5EF4-FFF2-40B4-BE49-F238E27FC236}">
                <a16:creationId xmlns:a16="http://schemas.microsoft.com/office/drawing/2014/main" id="{75F1F136-3558-25F7-445E-B2C0CACD69BA}"/>
              </a:ext>
            </a:extLst>
          </p:cNvPr>
          <p:cNvSpPr/>
          <p:nvPr/>
        </p:nvSpPr>
        <p:spPr>
          <a:xfrm>
            <a:off x="13482828" y="0"/>
            <a:ext cx="4805173" cy="883444"/>
          </a:xfrm>
          <a:prstGeom prst="rect">
            <a:avLst/>
          </a:prstGeom>
          <a:blipFill>
            <a:blip r:embed="rId4"/>
            <a:stretch>
              <a:fillRect/>
            </a:stretch>
          </a:blipFill>
          <a:ln w="12700">
            <a:miter lim="400000"/>
          </a:ln>
        </p:spPr>
        <p:txBody>
          <a:bodyPr lIns="45719" rIns="45719"/>
          <a:lstStyle/>
          <a:p>
            <a:endParaRPr/>
          </a:p>
        </p:txBody>
      </p:sp>
    </p:spTree>
    <p:extLst>
      <p:ext uri="{BB962C8B-B14F-4D97-AF65-F5344CB8AC3E}">
        <p14:creationId xmlns:p14="http://schemas.microsoft.com/office/powerpoint/2010/main" val="541813069"/>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Group 2"/>
          <p:cNvSpPr/>
          <p:nvPr/>
        </p:nvSpPr>
        <p:spPr>
          <a:xfrm>
            <a:off x="1198454" y="704860"/>
            <a:ext cx="14351510"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5000"/>
              </a:lnSpc>
              <a:defRPr sz="4200" b="1">
                <a:latin typeface="Times New Roman"/>
                <a:ea typeface="Times New Roman"/>
                <a:cs typeface="Times New Roman"/>
                <a:sym typeface="Times New Roman"/>
              </a:defRPr>
            </a:lvl1pPr>
          </a:lstStyle>
          <a:p>
            <a:r>
              <a:rPr dirty="0"/>
              <a:t>FEASIBILITY AND VIABILITY</a:t>
            </a:r>
          </a:p>
        </p:txBody>
      </p:sp>
      <p:sp>
        <p:nvSpPr>
          <p:cNvPr id="136" name="TextBox 5"/>
          <p:cNvSpPr txBox="1"/>
          <p:nvPr/>
        </p:nvSpPr>
        <p:spPr>
          <a:xfrm>
            <a:off x="549399" y="968239"/>
            <a:ext cx="16674075" cy="75494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marL="325755" lvl="1" indent="0" algn="just">
              <a:lnSpc>
                <a:spcPts val="5400"/>
              </a:lnSpc>
              <a:buSzPct val="100000"/>
              <a:defRPr sz="3600">
                <a:latin typeface="Arial"/>
                <a:ea typeface="Arial"/>
                <a:cs typeface="Arial"/>
                <a:sym typeface="Arial"/>
              </a:defRPr>
            </a:pPr>
            <a:r>
              <a:rPr lang="en-US" dirty="0"/>
              <a:t>FEASIBILITY:</a:t>
            </a:r>
          </a:p>
          <a:p>
            <a:pPr marL="651509" lvl="1" indent="-325754" algn="just">
              <a:lnSpc>
                <a:spcPts val="5400"/>
              </a:lnSpc>
              <a:buSzPct val="100000"/>
              <a:buFont typeface="Arial"/>
              <a:buChar char="•"/>
              <a:defRPr sz="3600">
                <a:latin typeface="Arial"/>
                <a:ea typeface="Arial"/>
                <a:cs typeface="Arial"/>
                <a:sym typeface="Arial"/>
              </a:defRPr>
            </a:pPr>
            <a:r>
              <a:rPr lang="en-US" dirty="0"/>
              <a:t>Technical: Built using </a:t>
            </a:r>
            <a:r>
              <a:rPr lang="en-US" dirty="0" err="1"/>
              <a:t>FastAPI</a:t>
            </a:r>
            <a:r>
              <a:rPr lang="en-US" dirty="0"/>
              <a:t>, Leaflet, Azure ML</a:t>
            </a:r>
          </a:p>
          <a:p>
            <a:pPr marL="651509" lvl="1" indent="-325754" algn="just">
              <a:lnSpc>
                <a:spcPts val="5400"/>
              </a:lnSpc>
              <a:buSzPct val="100000"/>
              <a:buFont typeface="Arial"/>
              <a:buChar char="•"/>
              <a:defRPr sz="3600">
                <a:latin typeface="Arial"/>
                <a:ea typeface="Arial"/>
                <a:cs typeface="Arial"/>
                <a:sym typeface="Arial"/>
              </a:defRPr>
            </a:pPr>
            <a:r>
              <a:rPr lang="en-US" dirty="0"/>
              <a:t>Economic: Low cost (OpenStreetMap is free)</a:t>
            </a:r>
          </a:p>
          <a:p>
            <a:pPr marL="651509" lvl="1" indent="-325754" algn="just">
              <a:lnSpc>
                <a:spcPts val="5400"/>
              </a:lnSpc>
              <a:buSzPct val="100000"/>
              <a:buFont typeface="Arial"/>
              <a:buChar char="•"/>
              <a:defRPr sz="3600">
                <a:latin typeface="Arial"/>
                <a:ea typeface="Arial"/>
                <a:cs typeface="Arial"/>
                <a:sym typeface="Arial"/>
              </a:defRPr>
            </a:pPr>
            <a:r>
              <a:rPr lang="en-US" dirty="0"/>
              <a:t>Operational: Easy to use and implement</a:t>
            </a:r>
          </a:p>
          <a:p>
            <a:pPr marL="651509" lvl="1" indent="-325754" algn="just">
              <a:lnSpc>
                <a:spcPts val="5400"/>
              </a:lnSpc>
              <a:buSzPct val="100000"/>
              <a:buFont typeface="Arial"/>
              <a:buChar char="•"/>
              <a:defRPr sz="3600">
                <a:latin typeface="Arial"/>
                <a:ea typeface="Arial"/>
                <a:cs typeface="Arial"/>
                <a:sym typeface="Arial"/>
              </a:defRPr>
            </a:pPr>
            <a:r>
              <a:rPr lang="en-US" dirty="0"/>
              <a:t>Scalable: Can expand to other cities</a:t>
            </a:r>
          </a:p>
          <a:p>
            <a:pPr marL="325755" lvl="1" indent="0" algn="just">
              <a:lnSpc>
                <a:spcPts val="5400"/>
              </a:lnSpc>
              <a:buSzPct val="100000"/>
              <a:defRPr sz="3600">
                <a:latin typeface="Arial"/>
                <a:ea typeface="Arial"/>
                <a:cs typeface="Arial"/>
                <a:sym typeface="Arial"/>
              </a:defRPr>
            </a:pPr>
            <a:endParaRPr lang="en-US" dirty="0"/>
          </a:p>
          <a:p>
            <a:pPr marL="325755" lvl="1" indent="0" algn="just">
              <a:lnSpc>
                <a:spcPts val="5400"/>
              </a:lnSpc>
              <a:buSzPct val="100000"/>
              <a:defRPr sz="3600">
                <a:latin typeface="Arial"/>
                <a:ea typeface="Arial"/>
                <a:cs typeface="Arial"/>
                <a:sym typeface="Arial"/>
              </a:defRPr>
            </a:pPr>
            <a:r>
              <a:rPr lang="en-US" dirty="0"/>
              <a:t> Viability:</a:t>
            </a:r>
          </a:p>
          <a:p>
            <a:pPr marL="651509" lvl="1" indent="-325754" algn="just">
              <a:lnSpc>
                <a:spcPts val="5400"/>
              </a:lnSpc>
              <a:buSzPct val="100000"/>
              <a:buFont typeface="Arial"/>
              <a:buChar char="•"/>
              <a:defRPr sz="3600">
                <a:latin typeface="Arial"/>
                <a:ea typeface="Arial"/>
                <a:cs typeface="Arial"/>
                <a:sym typeface="Arial"/>
              </a:defRPr>
            </a:pPr>
            <a:r>
              <a:rPr lang="en-US" dirty="0"/>
              <a:t>High Demand: Growing urban traffic problems</a:t>
            </a:r>
          </a:p>
          <a:p>
            <a:pPr marL="651509" lvl="1" indent="-325754" algn="just">
              <a:lnSpc>
                <a:spcPts val="5400"/>
              </a:lnSpc>
              <a:buSzPct val="100000"/>
              <a:buFont typeface="Arial"/>
              <a:buChar char="•"/>
              <a:defRPr sz="3600">
                <a:latin typeface="Arial"/>
                <a:ea typeface="Arial"/>
                <a:cs typeface="Arial"/>
                <a:sym typeface="Arial"/>
              </a:defRPr>
            </a:pPr>
            <a:r>
              <a:rPr lang="en-US" dirty="0"/>
              <a:t>User Value: Saves time &amp; fuel</a:t>
            </a:r>
          </a:p>
          <a:p>
            <a:pPr marL="651509" lvl="1" indent="-325754" algn="just">
              <a:lnSpc>
                <a:spcPts val="5400"/>
              </a:lnSpc>
              <a:buSzPct val="100000"/>
              <a:buFont typeface="Arial"/>
              <a:buChar char="•"/>
              <a:defRPr sz="3600">
                <a:latin typeface="Arial"/>
                <a:ea typeface="Arial"/>
                <a:cs typeface="Arial"/>
                <a:sym typeface="Arial"/>
              </a:defRPr>
            </a:pPr>
            <a:r>
              <a:rPr lang="en-US" dirty="0"/>
              <a:t>Smart City Use: Supports traffic management</a:t>
            </a:r>
          </a:p>
          <a:p>
            <a:pPr marL="651509" lvl="1" indent="-325754" algn="just">
              <a:lnSpc>
                <a:spcPts val="5400"/>
              </a:lnSpc>
              <a:buSzPct val="100000"/>
              <a:buFont typeface="Arial"/>
              <a:buChar char="•"/>
              <a:defRPr sz="3600">
                <a:latin typeface="Arial"/>
                <a:ea typeface="Arial"/>
                <a:cs typeface="Arial"/>
                <a:sym typeface="Arial"/>
              </a:defRPr>
            </a:pPr>
            <a:r>
              <a:rPr lang="en-US" dirty="0"/>
              <a:t>Future Scope: IoT + mobile integration</a:t>
            </a:r>
            <a:endParaRPr dirty="0"/>
          </a:p>
        </p:txBody>
      </p:sp>
      <p:grpSp>
        <p:nvGrpSpPr>
          <p:cNvPr id="139" name="Group 6"/>
          <p:cNvGrpSpPr/>
          <p:nvPr/>
        </p:nvGrpSpPr>
        <p:grpSpPr>
          <a:xfrm>
            <a:off x="13106400" y="9534524"/>
            <a:ext cx="4267200" cy="547689"/>
            <a:chOff x="0" y="0"/>
            <a:chExt cx="4267200" cy="547687"/>
          </a:xfrm>
        </p:grpSpPr>
        <p:sp>
          <p:nvSpPr>
            <p:cNvPr id="137" name="Freeform 7"/>
            <p:cNvSpPr/>
            <p:nvPr/>
          </p:nvSpPr>
          <p:spPr>
            <a:xfrm>
              <a:off x="0" y="-1"/>
              <a:ext cx="4267200" cy="547689"/>
            </a:xfrm>
            <a:prstGeom prst="rect">
              <a:avLst/>
            </a:prstGeom>
            <a:blipFill rotWithShape="1">
              <a:blip r:embed="rId3"/>
              <a:srcRect/>
              <a:stretch>
                <a:fillRect/>
              </a:stretch>
            </a:blipFill>
            <a:ln w="12700" cap="flat">
              <a:noFill/>
              <a:miter lim="400000"/>
            </a:ln>
            <a:effectLst/>
          </p:spPr>
          <p:txBody>
            <a:bodyPr wrap="square" lIns="45719" tIns="45719" rIns="45719" bIns="45719" numCol="1" anchor="t">
              <a:noAutofit/>
            </a:bodyPr>
            <a:lstStyle/>
            <a:p>
              <a:endParaRPr/>
            </a:p>
          </p:txBody>
        </p:sp>
        <p:sp>
          <p:nvSpPr>
            <p:cNvPr id="138" name="TextBox 8"/>
            <p:cNvSpPr txBox="1"/>
            <p:nvPr/>
          </p:nvSpPr>
          <p:spPr>
            <a:xfrm>
              <a:off x="0" y="50422"/>
              <a:ext cx="4267200" cy="40398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lgn="r">
                <a:lnSpc>
                  <a:spcPts val="3200"/>
                </a:lnSpc>
                <a:defRPr sz="2700" b="1">
                  <a:solidFill>
                    <a:srgbClr val="FFFFFF"/>
                  </a:solidFill>
                  <a:latin typeface="Calibri (MS) Bold"/>
                  <a:ea typeface="Calibri (MS) Bold"/>
                  <a:cs typeface="Calibri (MS) Bold"/>
                  <a:sym typeface="Calibri (MS) Bold"/>
                </a:defRPr>
              </a:lvl1pPr>
            </a:lstStyle>
            <a:p>
              <a:r>
                <a:t>4</a:t>
              </a:r>
            </a:p>
          </p:txBody>
        </p:sp>
      </p:grpSp>
      <p:grpSp>
        <p:nvGrpSpPr>
          <p:cNvPr id="142" name="Group 9"/>
          <p:cNvGrpSpPr/>
          <p:nvPr/>
        </p:nvGrpSpPr>
        <p:grpSpPr>
          <a:xfrm>
            <a:off x="4651029" y="9646192"/>
            <a:ext cx="8722071" cy="436023"/>
            <a:chOff x="0" y="0"/>
            <a:chExt cx="8722069" cy="436022"/>
          </a:xfrm>
        </p:grpSpPr>
        <p:sp>
          <p:nvSpPr>
            <p:cNvPr id="140" name="Freeform 10"/>
            <p:cNvSpPr/>
            <p:nvPr/>
          </p:nvSpPr>
          <p:spPr>
            <a:xfrm>
              <a:off x="0" y="10823"/>
              <a:ext cx="8722070" cy="425200"/>
            </a:xfrm>
            <a:prstGeom prst="rect">
              <a:avLst/>
            </a:prstGeom>
            <a:blipFill rotWithShape="1">
              <a:blip r:embed="rId3"/>
              <a:srcRect/>
              <a:stretch>
                <a:fillRect/>
              </a:stretch>
            </a:blipFill>
            <a:ln w="12700" cap="flat">
              <a:noFill/>
              <a:miter lim="400000"/>
            </a:ln>
            <a:effectLst/>
          </p:spPr>
          <p:txBody>
            <a:bodyPr wrap="square" lIns="45719" tIns="45719" rIns="45719" bIns="45719" numCol="1" anchor="t">
              <a:noAutofit/>
            </a:bodyPr>
            <a:lstStyle/>
            <a:p>
              <a:endParaRPr/>
            </a:p>
          </p:txBody>
        </p:sp>
        <p:sp>
          <p:nvSpPr>
            <p:cNvPr id="141" name="TextBox 11"/>
            <p:cNvSpPr txBox="1"/>
            <p:nvPr/>
          </p:nvSpPr>
          <p:spPr>
            <a:xfrm>
              <a:off x="0" y="0"/>
              <a:ext cx="8722070" cy="40398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lgn="ctr">
                <a:lnSpc>
                  <a:spcPts val="3200"/>
                </a:lnSpc>
                <a:defRPr sz="2700">
                  <a:solidFill>
                    <a:srgbClr val="FFFFFF"/>
                  </a:solidFill>
                  <a:latin typeface="Calibri (MS)"/>
                  <a:ea typeface="Calibri (MS)"/>
                  <a:cs typeface="Calibri (MS)"/>
                  <a:sym typeface="Calibri (MS)"/>
                </a:defRPr>
              </a:lvl1pPr>
            </a:lstStyle>
            <a:p>
              <a:r>
                <a:t>Alliance School of Advanced Computing</a:t>
              </a:r>
            </a:p>
          </p:txBody>
        </p:sp>
      </p:grpSp>
      <p:sp>
        <p:nvSpPr>
          <p:cNvPr id="143" name="Freeform 12"/>
          <p:cNvSpPr/>
          <p:nvPr/>
        </p:nvSpPr>
        <p:spPr>
          <a:xfrm>
            <a:off x="0" y="-1"/>
            <a:ext cx="3016469" cy="1161342"/>
          </a:xfrm>
          <a:prstGeom prst="rect">
            <a:avLst/>
          </a:prstGeom>
          <a:blipFill>
            <a:blip r:embed="rId4"/>
            <a:stretch>
              <a:fillRect/>
            </a:stretch>
          </a:blipFill>
          <a:ln w="12700">
            <a:miter lim="400000"/>
          </a:ln>
        </p:spPr>
        <p:txBody>
          <a:bodyPr lIns="45719" rIns="45719"/>
          <a:lstStyle/>
          <a:p>
            <a:endParaRPr dirty="0"/>
          </a:p>
        </p:txBody>
      </p:sp>
      <p:sp>
        <p:nvSpPr>
          <p:cNvPr id="144" name="Freeform 14"/>
          <p:cNvSpPr/>
          <p:nvPr/>
        </p:nvSpPr>
        <p:spPr>
          <a:xfrm>
            <a:off x="13482828" y="0"/>
            <a:ext cx="4805173" cy="883444"/>
          </a:xfrm>
          <a:prstGeom prst="rect">
            <a:avLst/>
          </a:prstGeom>
          <a:blipFill>
            <a:blip r:embed="rId5"/>
            <a:stretch>
              <a:fillRect/>
            </a:stretch>
          </a:blipFill>
          <a:ln w="12700">
            <a:miter lim="400000"/>
          </a:ln>
        </p:spPr>
        <p:txBody>
          <a:bodyPr lIns="45719" rIns="45719"/>
          <a:lstStyle/>
          <a:p>
            <a:endParaRPr/>
          </a:p>
        </p:txBody>
      </p:sp>
      <p:grpSp>
        <p:nvGrpSpPr>
          <p:cNvPr id="147" name="Group 15"/>
          <p:cNvGrpSpPr/>
          <p:nvPr/>
        </p:nvGrpSpPr>
        <p:grpSpPr>
          <a:xfrm>
            <a:off x="0" y="9532143"/>
            <a:ext cx="18288001" cy="754858"/>
            <a:chOff x="0" y="0"/>
            <a:chExt cx="18288000" cy="754857"/>
          </a:xfrm>
        </p:grpSpPr>
        <p:sp>
          <p:nvSpPr>
            <p:cNvPr id="145" name="Freeform 16"/>
            <p:cNvSpPr/>
            <p:nvPr/>
          </p:nvSpPr>
          <p:spPr>
            <a:xfrm>
              <a:off x="0" y="0"/>
              <a:ext cx="18288001" cy="754858"/>
            </a:xfrm>
            <a:prstGeom prst="rect">
              <a:avLst/>
            </a:prstGeom>
            <a:solidFill>
              <a:srgbClr val="0070C0"/>
            </a:solidFill>
            <a:ln w="12700" cap="flat">
              <a:noFill/>
              <a:miter lim="400000"/>
            </a:ln>
            <a:effectLst/>
          </p:spPr>
          <p:txBody>
            <a:bodyPr wrap="square" lIns="45719" tIns="45719" rIns="45719" bIns="45719" numCol="1" anchor="t">
              <a:noAutofit/>
            </a:bodyPr>
            <a:lstStyle/>
            <a:p>
              <a:endParaRPr/>
            </a:p>
          </p:txBody>
        </p:sp>
        <p:sp>
          <p:nvSpPr>
            <p:cNvPr id="146" name="TextBox 9"/>
            <p:cNvSpPr/>
            <p:nvPr/>
          </p:nvSpPr>
          <p:spPr>
            <a:xfrm>
              <a:off x="0" y="377427"/>
              <a:ext cx="18288001"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just">
                <a:lnSpc>
                  <a:spcPts val="3200"/>
                </a:lnSpc>
                <a:defRPr sz="2700">
                  <a:solidFill>
                    <a:srgbClr val="FFFFFF"/>
                  </a:solidFill>
                  <a:latin typeface="Calibri (MS)"/>
                  <a:ea typeface="Calibri (MS)"/>
                  <a:cs typeface="Calibri (MS)"/>
                  <a:sym typeface="Calibri (MS)"/>
                </a:defRPr>
              </a:lvl1pPr>
            </a:lstStyle>
            <a:p>
              <a:r>
                <a:rPr dirty="0"/>
                <a:t>                                 Alliance School of Advanced Computing  |  Microsoft Azure Developer Community              4</a:t>
              </a:r>
            </a:p>
          </p:txBody>
        </p:sp>
      </p:gr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Group 2"/>
          <p:cNvSpPr/>
          <p:nvPr/>
        </p:nvSpPr>
        <p:spPr>
          <a:xfrm>
            <a:off x="161925" y="702468"/>
            <a:ext cx="16459200"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5000"/>
              </a:lnSpc>
              <a:defRPr sz="4200" b="1">
                <a:latin typeface="Times New Roman"/>
                <a:ea typeface="Times New Roman"/>
                <a:cs typeface="Times New Roman"/>
                <a:sym typeface="Times New Roman"/>
              </a:defRPr>
            </a:lvl1pPr>
          </a:lstStyle>
          <a:p>
            <a:r>
              <a:rPr dirty="0"/>
              <a:t>IMPACT AND BENEFITS</a:t>
            </a:r>
          </a:p>
        </p:txBody>
      </p:sp>
      <p:sp>
        <p:nvSpPr>
          <p:cNvPr id="152" name="TextBox 5"/>
          <p:cNvSpPr txBox="1"/>
          <p:nvPr/>
        </p:nvSpPr>
        <p:spPr>
          <a:xfrm>
            <a:off x="791570" y="1585912"/>
            <a:ext cx="14109340" cy="68569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marL="325755" lvl="1" indent="0" algn="just">
              <a:lnSpc>
                <a:spcPts val="5400"/>
              </a:lnSpc>
              <a:buSzPct val="100000"/>
              <a:defRPr sz="3600">
                <a:latin typeface="Arial"/>
                <a:ea typeface="Arial"/>
                <a:cs typeface="Arial"/>
                <a:sym typeface="Arial"/>
              </a:defRPr>
            </a:pPr>
            <a:r>
              <a:rPr lang="en-US" dirty="0"/>
              <a:t>Impact:</a:t>
            </a:r>
          </a:p>
          <a:p>
            <a:pPr marL="651509" lvl="1" indent="-325754" algn="just">
              <a:lnSpc>
                <a:spcPts val="5400"/>
              </a:lnSpc>
              <a:buSzPct val="100000"/>
              <a:buFont typeface="Arial"/>
              <a:buChar char="•"/>
              <a:defRPr sz="3600">
                <a:latin typeface="Arial"/>
                <a:ea typeface="Arial"/>
                <a:cs typeface="Arial"/>
                <a:sym typeface="Arial"/>
              </a:defRPr>
            </a:pPr>
            <a:r>
              <a:rPr lang="en-US" dirty="0"/>
              <a:t>Reduces traffic congestion</a:t>
            </a:r>
          </a:p>
          <a:p>
            <a:pPr marL="651509" lvl="1" indent="-325754" algn="just">
              <a:lnSpc>
                <a:spcPts val="5400"/>
              </a:lnSpc>
              <a:buSzPct val="100000"/>
              <a:buFont typeface="Arial"/>
              <a:buChar char="•"/>
              <a:defRPr sz="3600">
                <a:latin typeface="Arial"/>
                <a:ea typeface="Arial"/>
                <a:cs typeface="Arial"/>
                <a:sym typeface="Arial"/>
              </a:defRPr>
            </a:pPr>
            <a:r>
              <a:rPr lang="en-US" dirty="0"/>
              <a:t> Supports smart city development</a:t>
            </a:r>
          </a:p>
          <a:p>
            <a:pPr marL="651509" lvl="1" indent="-325754" algn="just">
              <a:lnSpc>
                <a:spcPts val="5400"/>
              </a:lnSpc>
              <a:buSzPct val="100000"/>
              <a:buFont typeface="Arial"/>
              <a:buChar char="•"/>
              <a:defRPr sz="3600">
                <a:latin typeface="Arial"/>
                <a:ea typeface="Arial"/>
                <a:cs typeface="Arial"/>
                <a:sym typeface="Arial"/>
              </a:defRPr>
            </a:pPr>
            <a:r>
              <a:rPr lang="en-US" dirty="0"/>
              <a:t> Improves urban mobility</a:t>
            </a:r>
          </a:p>
          <a:p>
            <a:pPr marL="325755" lvl="1" indent="0" algn="just">
              <a:lnSpc>
                <a:spcPts val="5400"/>
              </a:lnSpc>
              <a:buSzPct val="100000"/>
              <a:defRPr sz="3600">
                <a:latin typeface="Arial"/>
                <a:ea typeface="Arial"/>
                <a:cs typeface="Arial"/>
                <a:sym typeface="Arial"/>
              </a:defRPr>
            </a:pPr>
            <a:endParaRPr lang="en-US" dirty="0"/>
          </a:p>
          <a:p>
            <a:pPr marL="325755" lvl="1" indent="0" algn="just">
              <a:lnSpc>
                <a:spcPts val="5400"/>
              </a:lnSpc>
              <a:buSzPct val="100000"/>
              <a:defRPr sz="3600">
                <a:latin typeface="Arial"/>
                <a:ea typeface="Arial"/>
                <a:cs typeface="Arial"/>
                <a:sym typeface="Arial"/>
              </a:defRPr>
            </a:pPr>
            <a:r>
              <a:rPr lang="en-US" dirty="0"/>
              <a:t>Benefits:</a:t>
            </a:r>
          </a:p>
          <a:p>
            <a:pPr marL="651509" lvl="1" indent="-325754" algn="just">
              <a:lnSpc>
                <a:spcPts val="5400"/>
              </a:lnSpc>
              <a:buSzPct val="100000"/>
              <a:buFont typeface="Arial"/>
              <a:buChar char="•"/>
              <a:defRPr sz="3600">
                <a:latin typeface="Arial"/>
                <a:ea typeface="Arial"/>
                <a:cs typeface="Arial"/>
                <a:sym typeface="Arial"/>
              </a:defRPr>
            </a:pPr>
            <a:r>
              <a:rPr lang="en-US" dirty="0"/>
              <a:t> Faster travel time</a:t>
            </a:r>
          </a:p>
          <a:p>
            <a:pPr marL="651509" lvl="1" indent="-325754" algn="just">
              <a:lnSpc>
                <a:spcPts val="5400"/>
              </a:lnSpc>
              <a:buSzPct val="100000"/>
              <a:buFont typeface="Arial"/>
              <a:buChar char="•"/>
              <a:defRPr sz="3600">
                <a:latin typeface="Arial"/>
                <a:ea typeface="Arial"/>
                <a:cs typeface="Arial"/>
                <a:sym typeface="Arial"/>
              </a:defRPr>
            </a:pPr>
            <a:r>
              <a:rPr lang="en-US" dirty="0"/>
              <a:t> Fuel savings &amp; cost reduction</a:t>
            </a:r>
          </a:p>
          <a:p>
            <a:pPr marL="651509" lvl="1" indent="-325754" algn="just">
              <a:lnSpc>
                <a:spcPts val="5400"/>
              </a:lnSpc>
              <a:buSzPct val="100000"/>
              <a:buFont typeface="Arial"/>
              <a:buChar char="•"/>
              <a:defRPr sz="3600">
                <a:latin typeface="Arial"/>
                <a:ea typeface="Arial"/>
                <a:cs typeface="Arial"/>
                <a:sym typeface="Arial"/>
              </a:defRPr>
            </a:pPr>
            <a:r>
              <a:rPr lang="en-US" dirty="0"/>
              <a:t> Real-time traffic awareness</a:t>
            </a:r>
          </a:p>
          <a:p>
            <a:pPr marL="651509" lvl="1" indent="-325754" algn="just">
              <a:lnSpc>
                <a:spcPts val="5400"/>
              </a:lnSpc>
              <a:buSzPct val="100000"/>
              <a:buFont typeface="Arial"/>
              <a:buChar char="•"/>
              <a:defRPr sz="3600">
                <a:latin typeface="Arial"/>
                <a:ea typeface="Arial"/>
                <a:cs typeface="Arial"/>
                <a:sym typeface="Arial"/>
              </a:defRPr>
            </a:pPr>
            <a:r>
              <a:rPr lang="en-US" dirty="0"/>
              <a:t>Better route planning</a:t>
            </a:r>
            <a:endParaRPr dirty="0"/>
          </a:p>
        </p:txBody>
      </p:sp>
      <p:grpSp>
        <p:nvGrpSpPr>
          <p:cNvPr id="155" name="Group 6"/>
          <p:cNvGrpSpPr/>
          <p:nvPr/>
        </p:nvGrpSpPr>
        <p:grpSpPr>
          <a:xfrm>
            <a:off x="13106400" y="9534524"/>
            <a:ext cx="4267200" cy="547689"/>
            <a:chOff x="0" y="0"/>
            <a:chExt cx="4267200" cy="547687"/>
          </a:xfrm>
        </p:grpSpPr>
        <p:sp>
          <p:nvSpPr>
            <p:cNvPr id="153" name="Freeform 7"/>
            <p:cNvSpPr/>
            <p:nvPr/>
          </p:nvSpPr>
          <p:spPr>
            <a:xfrm>
              <a:off x="0" y="-1"/>
              <a:ext cx="4267200" cy="547689"/>
            </a:xfrm>
            <a:prstGeom prst="rect">
              <a:avLst/>
            </a:prstGeom>
            <a:blipFill rotWithShape="1">
              <a:blip r:embed="rId3"/>
              <a:srcRect/>
              <a:stretch>
                <a:fillRect/>
              </a:stretch>
            </a:blipFill>
            <a:ln w="12700" cap="flat">
              <a:noFill/>
              <a:miter lim="400000"/>
            </a:ln>
            <a:effectLst/>
          </p:spPr>
          <p:txBody>
            <a:bodyPr wrap="square" lIns="45719" tIns="45719" rIns="45719" bIns="45719" numCol="1" anchor="t">
              <a:noAutofit/>
            </a:bodyPr>
            <a:lstStyle/>
            <a:p>
              <a:endParaRPr/>
            </a:p>
          </p:txBody>
        </p:sp>
        <p:sp>
          <p:nvSpPr>
            <p:cNvPr id="154" name="TextBox 8"/>
            <p:cNvSpPr txBox="1"/>
            <p:nvPr/>
          </p:nvSpPr>
          <p:spPr>
            <a:xfrm>
              <a:off x="0" y="50422"/>
              <a:ext cx="4267200" cy="40398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lgn="r">
                <a:lnSpc>
                  <a:spcPts val="3200"/>
                </a:lnSpc>
                <a:defRPr sz="2700" b="1">
                  <a:solidFill>
                    <a:srgbClr val="FFFFFF"/>
                  </a:solidFill>
                  <a:latin typeface="Calibri (MS) Bold"/>
                  <a:ea typeface="Calibri (MS) Bold"/>
                  <a:cs typeface="Calibri (MS) Bold"/>
                  <a:sym typeface="Calibri (MS) Bold"/>
                </a:defRPr>
              </a:lvl1pPr>
            </a:lstStyle>
            <a:p>
              <a:r>
                <a:t>5</a:t>
              </a:r>
            </a:p>
          </p:txBody>
        </p:sp>
      </p:grpSp>
      <p:grpSp>
        <p:nvGrpSpPr>
          <p:cNvPr id="158" name="Group 9"/>
          <p:cNvGrpSpPr/>
          <p:nvPr/>
        </p:nvGrpSpPr>
        <p:grpSpPr>
          <a:xfrm>
            <a:off x="6529388" y="9534524"/>
            <a:ext cx="7400926" cy="652459"/>
            <a:chOff x="0" y="0"/>
            <a:chExt cx="7400925" cy="652457"/>
          </a:xfrm>
        </p:grpSpPr>
        <p:sp>
          <p:nvSpPr>
            <p:cNvPr id="156" name="Freeform 10"/>
            <p:cNvSpPr/>
            <p:nvPr/>
          </p:nvSpPr>
          <p:spPr>
            <a:xfrm>
              <a:off x="0" y="-1"/>
              <a:ext cx="7400925" cy="652459"/>
            </a:xfrm>
            <a:prstGeom prst="rect">
              <a:avLst/>
            </a:prstGeom>
            <a:blipFill rotWithShape="1">
              <a:blip r:embed="rId3"/>
              <a:srcRect/>
              <a:stretch>
                <a:fillRect/>
              </a:stretch>
            </a:blipFill>
            <a:ln w="12700" cap="flat">
              <a:noFill/>
              <a:miter lim="400000"/>
            </a:ln>
            <a:effectLst/>
          </p:spPr>
          <p:txBody>
            <a:bodyPr wrap="square" lIns="45719" tIns="45719" rIns="45719" bIns="45719" numCol="1" anchor="t">
              <a:noAutofit/>
            </a:bodyPr>
            <a:lstStyle/>
            <a:p>
              <a:endParaRPr/>
            </a:p>
          </p:txBody>
        </p:sp>
        <p:sp>
          <p:nvSpPr>
            <p:cNvPr id="157" name="TextBox 11"/>
            <p:cNvSpPr txBox="1"/>
            <p:nvPr/>
          </p:nvSpPr>
          <p:spPr>
            <a:xfrm>
              <a:off x="0" y="102809"/>
              <a:ext cx="7400925" cy="40398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lgn="ctr">
                <a:lnSpc>
                  <a:spcPts val="3200"/>
                </a:lnSpc>
                <a:defRPr sz="2700">
                  <a:solidFill>
                    <a:srgbClr val="FFFFFF"/>
                  </a:solidFill>
                  <a:latin typeface="Calibri (MS)"/>
                  <a:ea typeface="Calibri (MS)"/>
                  <a:cs typeface="Calibri (MS)"/>
                  <a:sym typeface="Calibri (MS)"/>
                </a:defRPr>
              </a:lvl1pPr>
            </a:lstStyle>
            <a:p>
              <a:r>
                <a:t>Alliance School of Advanced Computing</a:t>
              </a:r>
            </a:p>
          </p:txBody>
        </p:sp>
      </p:grpSp>
      <p:sp>
        <p:nvSpPr>
          <p:cNvPr id="159" name="Freeform 12"/>
          <p:cNvSpPr/>
          <p:nvPr/>
        </p:nvSpPr>
        <p:spPr>
          <a:xfrm>
            <a:off x="0" y="-1"/>
            <a:ext cx="3016469" cy="1161342"/>
          </a:xfrm>
          <a:prstGeom prst="rect">
            <a:avLst/>
          </a:prstGeom>
          <a:blipFill>
            <a:blip r:embed="rId4"/>
            <a:stretch>
              <a:fillRect/>
            </a:stretch>
          </a:blipFill>
          <a:ln w="12700">
            <a:miter lim="400000"/>
          </a:ln>
        </p:spPr>
        <p:txBody>
          <a:bodyPr lIns="45719" rIns="45719"/>
          <a:lstStyle/>
          <a:p>
            <a:endParaRPr/>
          </a:p>
        </p:txBody>
      </p:sp>
      <p:sp>
        <p:nvSpPr>
          <p:cNvPr id="160" name="Freeform 14"/>
          <p:cNvSpPr/>
          <p:nvPr/>
        </p:nvSpPr>
        <p:spPr>
          <a:xfrm>
            <a:off x="13482828" y="0"/>
            <a:ext cx="4805173" cy="883444"/>
          </a:xfrm>
          <a:prstGeom prst="rect">
            <a:avLst/>
          </a:prstGeom>
          <a:blipFill>
            <a:blip r:embed="rId5"/>
            <a:stretch>
              <a:fillRect/>
            </a:stretch>
          </a:blipFill>
          <a:ln w="12700">
            <a:miter lim="400000"/>
          </a:ln>
        </p:spPr>
        <p:txBody>
          <a:bodyPr lIns="45719" rIns="45719"/>
          <a:lstStyle/>
          <a:p>
            <a:endParaRPr/>
          </a:p>
        </p:txBody>
      </p:sp>
      <p:grpSp>
        <p:nvGrpSpPr>
          <p:cNvPr id="163" name="Group 15"/>
          <p:cNvGrpSpPr/>
          <p:nvPr/>
        </p:nvGrpSpPr>
        <p:grpSpPr>
          <a:xfrm>
            <a:off x="0" y="9532143"/>
            <a:ext cx="18288001" cy="754858"/>
            <a:chOff x="0" y="0"/>
            <a:chExt cx="18288000" cy="754857"/>
          </a:xfrm>
        </p:grpSpPr>
        <p:sp>
          <p:nvSpPr>
            <p:cNvPr id="161" name="Freeform 16"/>
            <p:cNvSpPr/>
            <p:nvPr/>
          </p:nvSpPr>
          <p:spPr>
            <a:xfrm>
              <a:off x="0" y="0"/>
              <a:ext cx="18288001" cy="754858"/>
            </a:xfrm>
            <a:prstGeom prst="rect">
              <a:avLst/>
            </a:prstGeom>
            <a:solidFill>
              <a:srgbClr val="0070C0"/>
            </a:solidFill>
            <a:ln w="12700" cap="flat">
              <a:noFill/>
              <a:miter lim="400000"/>
            </a:ln>
            <a:effectLst/>
          </p:spPr>
          <p:txBody>
            <a:bodyPr wrap="square" lIns="45719" tIns="45719" rIns="45719" bIns="45719" numCol="1" anchor="t">
              <a:noAutofit/>
            </a:bodyPr>
            <a:lstStyle/>
            <a:p>
              <a:endParaRPr/>
            </a:p>
          </p:txBody>
        </p:sp>
        <p:sp>
          <p:nvSpPr>
            <p:cNvPr id="162" name="TextBox 9"/>
            <p:cNvSpPr/>
            <p:nvPr/>
          </p:nvSpPr>
          <p:spPr>
            <a:xfrm>
              <a:off x="0" y="377427"/>
              <a:ext cx="18288001"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just">
                <a:lnSpc>
                  <a:spcPts val="3200"/>
                </a:lnSpc>
                <a:defRPr sz="2700">
                  <a:solidFill>
                    <a:srgbClr val="FFFFFF"/>
                  </a:solidFill>
                  <a:latin typeface="Calibri (MS)"/>
                  <a:ea typeface="Calibri (MS)"/>
                  <a:cs typeface="Calibri (MS)"/>
                  <a:sym typeface="Calibri (MS)"/>
                </a:defRPr>
              </a:lvl1pPr>
            </a:lstStyle>
            <a:p>
              <a:r>
                <a:t>                                 Alliance School of Advanced Computing  |  Microsoft Azure Developer Community              5</a:t>
              </a:r>
            </a:p>
          </p:txBody>
        </p:sp>
      </p:gr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Group 2"/>
          <p:cNvSpPr/>
          <p:nvPr/>
        </p:nvSpPr>
        <p:spPr>
          <a:xfrm>
            <a:off x="161925" y="716756"/>
            <a:ext cx="16459200"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lnSpc>
                <a:spcPts val="5000"/>
              </a:lnSpc>
              <a:defRPr sz="4200" b="1">
                <a:latin typeface="Times New Roman"/>
                <a:ea typeface="Times New Roman"/>
                <a:cs typeface="Times New Roman"/>
                <a:sym typeface="Times New Roman"/>
              </a:defRPr>
            </a:lvl1pPr>
          </a:lstStyle>
          <a:p>
            <a:r>
              <a:rPr dirty="0"/>
              <a:t>RESEARCH  AND REFERENCES</a:t>
            </a:r>
          </a:p>
        </p:txBody>
      </p:sp>
      <p:sp>
        <p:nvSpPr>
          <p:cNvPr id="168" name="TextBox 5"/>
          <p:cNvSpPr txBox="1"/>
          <p:nvPr/>
        </p:nvSpPr>
        <p:spPr>
          <a:xfrm>
            <a:off x="614149" y="1600200"/>
            <a:ext cx="17168884" cy="51296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marL="760094" lvl="1" indent="-380047" algn="just">
              <a:lnSpc>
                <a:spcPts val="5000"/>
              </a:lnSpc>
              <a:buSzPct val="100000"/>
              <a:buFont typeface="Arial"/>
              <a:buChar char="•"/>
              <a:defRPr sz="4200">
                <a:latin typeface="Arial"/>
                <a:ea typeface="Arial"/>
                <a:cs typeface="Arial"/>
                <a:sym typeface="Arial"/>
              </a:defRPr>
            </a:pPr>
            <a:r>
              <a:rPr lang="en-US" sz="4200" dirty="0">
                <a:sym typeface="Arial"/>
              </a:rPr>
              <a:t>The study concludes that Artificial Intelligence has significant potential to transform urban infrastructure and improve city services. AI technologies can enhance transportation systems, optimize energy usage, and improve citizen engagement in governance. However, technological improvements must be combined with inclusive policies to ensure that all citizens benefit equally from smart city development.</a:t>
            </a:r>
          </a:p>
          <a:p>
            <a:pPr marL="760094" lvl="1" indent="-380047" algn="just">
              <a:lnSpc>
                <a:spcPts val="5000"/>
              </a:lnSpc>
              <a:buSzPct val="100000"/>
              <a:buFont typeface="Arial"/>
              <a:buChar char="•"/>
              <a:defRPr sz="4200">
                <a:latin typeface="Arial"/>
                <a:ea typeface="Arial"/>
                <a:cs typeface="Arial"/>
                <a:sym typeface="Arial"/>
              </a:defRPr>
            </a:pPr>
            <a:r>
              <a:rPr lang="en-US" sz="4200" dirty="0">
                <a:sym typeface="Arial"/>
              </a:rPr>
              <a:t>https://github.com/Lagisettymahesh/smartroutr-ai</a:t>
            </a:r>
          </a:p>
        </p:txBody>
      </p:sp>
      <p:grpSp>
        <p:nvGrpSpPr>
          <p:cNvPr id="171" name="Group 6"/>
          <p:cNvGrpSpPr/>
          <p:nvPr/>
        </p:nvGrpSpPr>
        <p:grpSpPr>
          <a:xfrm>
            <a:off x="13106400" y="9534524"/>
            <a:ext cx="4267200" cy="547689"/>
            <a:chOff x="0" y="0"/>
            <a:chExt cx="4267200" cy="547687"/>
          </a:xfrm>
        </p:grpSpPr>
        <p:sp>
          <p:nvSpPr>
            <p:cNvPr id="169" name="Freeform 7"/>
            <p:cNvSpPr/>
            <p:nvPr/>
          </p:nvSpPr>
          <p:spPr>
            <a:xfrm>
              <a:off x="0" y="-1"/>
              <a:ext cx="4267200" cy="547689"/>
            </a:xfrm>
            <a:prstGeom prst="rect">
              <a:avLst/>
            </a:prstGeom>
            <a:blipFill rotWithShape="1">
              <a:blip r:embed="rId3"/>
              <a:srcRect/>
              <a:stretch>
                <a:fillRect/>
              </a:stretch>
            </a:blipFill>
            <a:ln w="12700" cap="flat">
              <a:noFill/>
              <a:miter lim="400000"/>
            </a:ln>
            <a:effectLst/>
          </p:spPr>
          <p:txBody>
            <a:bodyPr wrap="square" lIns="45719" tIns="45719" rIns="45719" bIns="45719" numCol="1" anchor="t">
              <a:noAutofit/>
            </a:bodyPr>
            <a:lstStyle/>
            <a:p>
              <a:endParaRPr/>
            </a:p>
          </p:txBody>
        </p:sp>
        <p:sp>
          <p:nvSpPr>
            <p:cNvPr id="170" name="TextBox 8"/>
            <p:cNvSpPr txBox="1"/>
            <p:nvPr/>
          </p:nvSpPr>
          <p:spPr>
            <a:xfrm>
              <a:off x="0" y="64709"/>
              <a:ext cx="4267200" cy="40398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lgn="r">
                <a:lnSpc>
                  <a:spcPts val="3200"/>
                </a:lnSpc>
                <a:defRPr sz="2700" b="1">
                  <a:solidFill>
                    <a:srgbClr val="FFFFFF"/>
                  </a:solidFill>
                  <a:latin typeface="Arimo Bold"/>
                  <a:ea typeface="Arimo Bold"/>
                  <a:cs typeface="Arimo Bold"/>
                  <a:sym typeface="Arimo Bold"/>
                </a:defRPr>
              </a:lvl1pPr>
            </a:lstStyle>
            <a:p>
              <a:r>
                <a:t>6</a:t>
              </a:r>
            </a:p>
          </p:txBody>
        </p:sp>
      </p:grpSp>
      <p:grpSp>
        <p:nvGrpSpPr>
          <p:cNvPr id="174" name="Group 9"/>
          <p:cNvGrpSpPr/>
          <p:nvPr/>
        </p:nvGrpSpPr>
        <p:grpSpPr>
          <a:xfrm>
            <a:off x="6972300" y="9534524"/>
            <a:ext cx="6134100" cy="547689"/>
            <a:chOff x="0" y="0"/>
            <a:chExt cx="6134100" cy="547687"/>
          </a:xfrm>
        </p:grpSpPr>
        <p:sp>
          <p:nvSpPr>
            <p:cNvPr id="172" name="Freeform 10"/>
            <p:cNvSpPr/>
            <p:nvPr/>
          </p:nvSpPr>
          <p:spPr>
            <a:xfrm>
              <a:off x="0" y="-1"/>
              <a:ext cx="6134100" cy="547689"/>
            </a:xfrm>
            <a:prstGeom prst="rect">
              <a:avLst/>
            </a:prstGeom>
            <a:blipFill rotWithShape="1">
              <a:blip r:embed="rId3"/>
              <a:srcRect/>
              <a:stretch>
                <a:fillRect/>
              </a:stretch>
            </a:blipFill>
            <a:ln w="12700" cap="flat">
              <a:noFill/>
              <a:miter lim="400000"/>
            </a:ln>
            <a:effectLst/>
          </p:spPr>
          <p:txBody>
            <a:bodyPr wrap="square" lIns="45719" tIns="45719" rIns="45719" bIns="45719" numCol="1" anchor="t">
              <a:noAutofit/>
            </a:bodyPr>
            <a:lstStyle/>
            <a:p>
              <a:endParaRPr/>
            </a:p>
          </p:txBody>
        </p:sp>
        <p:sp>
          <p:nvSpPr>
            <p:cNvPr id="173" name="TextBox 11"/>
            <p:cNvSpPr txBox="1"/>
            <p:nvPr/>
          </p:nvSpPr>
          <p:spPr>
            <a:xfrm>
              <a:off x="0" y="50422"/>
              <a:ext cx="6134100" cy="40398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lgn="ctr">
                <a:lnSpc>
                  <a:spcPts val="3200"/>
                </a:lnSpc>
                <a:defRPr sz="2700">
                  <a:solidFill>
                    <a:srgbClr val="FFFFFF"/>
                  </a:solidFill>
                  <a:latin typeface="Calibri (MS)"/>
                  <a:ea typeface="Calibri (MS)"/>
                  <a:cs typeface="Calibri (MS)"/>
                  <a:sym typeface="Calibri (MS)"/>
                </a:defRPr>
              </a:lvl1pPr>
            </a:lstStyle>
            <a:p>
              <a:r>
                <a:t>Alliance School of Advanced Computing</a:t>
              </a:r>
            </a:p>
          </p:txBody>
        </p:sp>
      </p:grpSp>
      <p:sp>
        <p:nvSpPr>
          <p:cNvPr id="175" name="Freeform 12"/>
          <p:cNvSpPr/>
          <p:nvPr/>
        </p:nvSpPr>
        <p:spPr>
          <a:xfrm>
            <a:off x="0" y="-1"/>
            <a:ext cx="3016469" cy="1161342"/>
          </a:xfrm>
          <a:prstGeom prst="rect">
            <a:avLst/>
          </a:prstGeom>
          <a:blipFill>
            <a:blip r:embed="rId4"/>
            <a:stretch>
              <a:fillRect/>
            </a:stretch>
          </a:blipFill>
          <a:ln w="12700">
            <a:miter lim="400000"/>
          </a:ln>
        </p:spPr>
        <p:txBody>
          <a:bodyPr lIns="45719" rIns="45719"/>
          <a:lstStyle/>
          <a:p>
            <a:endParaRPr/>
          </a:p>
        </p:txBody>
      </p:sp>
      <p:sp>
        <p:nvSpPr>
          <p:cNvPr id="176" name="Freeform 14"/>
          <p:cNvSpPr/>
          <p:nvPr/>
        </p:nvSpPr>
        <p:spPr>
          <a:xfrm>
            <a:off x="13482828" y="0"/>
            <a:ext cx="4805173" cy="883444"/>
          </a:xfrm>
          <a:prstGeom prst="rect">
            <a:avLst/>
          </a:prstGeom>
          <a:blipFill>
            <a:blip r:embed="rId5"/>
            <a:stretch>
              <a:fillRect/>
            </a:stretch>
          </a:blipFill>
          <a:ln w="12700">
            <a:miter lim="400000"/>
          </a:ln>
        </p:spPr>
        <p:txBody>
          <a:bodyPr lIns="45719" rIns="45719"/>
          <a:lstStyle/>
          <a:p>
            <a:endParaRPr/>
          </a:p>
        </p:txBody>
      </p:sp>
      <p:grpSp>
        <p:nvGrpSpPr>
          <p:cNvPr id="179" name="Group 15"/>
          <p:cNvGrpSpPr/>
          <p:nvPr/>
        </p:nvGrpSpPr>
        <p:grpSpPr>
          <a:xfrm>
            <a:off x="0" y="9532143"/>
            <a:ext cx="18288001" cy="754858"/>
            <a:chOff x="0" y="0"/>
            <a:chExt cx="18288000" cy="754857"/>
          </a:xfrm>
        </p:grpSpPr>
        <p:sp>
          <p:nvSpPr>
            <p:cNvPr id="177" name="Freeform 16"/>
            <p:cNvSpPr/>
            <p:nvPr/>
          </p:nvSpPr>
          <p:spPr>
            <a:xfrm>
              <a:off x="0" y="0"/>
              <a:ext cx="18288001" cy="754858"/>
            </a:xfrm>
            <a:prstGeom prst="rect">
              <a:avLst/>
            </a:prstGeom>
            <a:solidFill>
              <a:srgbClr val="0070C0"/>
            </a:solidFill>
            <a:ln w="12700" cap="flat">
              <a:noFill/>
              <a:miter lim="400000"/>
            </a:ln>
            <a:effectLst/>
          </p:spPr>
          <p:txBody>
            <a:bodyPr wrap="square" lIns="45719" tIns="45719" rIns="45719" bIns="45719" numCol="1" anchor="t">
              <a:noAutofit/>
            </a:bodyPr>
            <a:lstStyle/>
            <a:p>
              <a:endParaRPr/>
            </a:p>
          </p:txBody>
        </p:sp>
        <p:sp>
          <p:nvSpPr>
            <p:cNvPr id="178" name="TextBox 9"/>
            <p:cNvSpPr/>
            <p:nvPr/>
          </p:nvSpPr>
          <p:spPr>
            <a:xfrm>
              <a:off x="0" y="377427"/>
              <a:ext cx="18288001"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just">
                <a:lnSpc>
                  <a:spcPts val="3200"/>
                </a:lnSpc>
                <a:defRPr sz="2700">
                  <a:solidFill>
                    <a:srgbClr val="FFFFFF"/>
                  </a:solidFill>
                  <a:latin typeface="Calibri (MS)"/>
                  <a:ea typeface="Calibri (MS)"/>
                  <a:cs typeface="Calibri (MS)"/>
                  <a:sym typeface="Calibri (MS)"/>
                </a:defRPr>
              </a:lvl1pPr>
            </a:lstStyle>
            <a:p>
              <a:r>
                <a:t>                                 Alliance School of Advanced Computing  |  Microsoft Azure Developer Community              6</a:t>
              </a:r>
            </a:p>
          </p:txBody>
        </p:sp>
      </p:grpSp>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83</TotalTime>
  <Words>580</Words>
  <Application>Microsoft Office PowerPoint</Application>
  <PresentationFormat>Custom</PresentationFormat>
  <Paragraphs>77</Paragraphs>
  <Slides>7</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pudi pavani</dc:creator>
  <cp:lastModifiedBy>pudi pavani</cp:lastModifiedBy>
  <cp:revision>3</cp:revision>
  <dcterms:modified xsi:type="dcterms:W3CDTF">2026-03-18T10:53:20Z</dcterms:modified>
</cp:coreProperties>
</file>